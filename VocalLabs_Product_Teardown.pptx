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3FFF"/>
          </a:solidFill>
          <a:ln w="12700">
            <a:solidFill>
              <a:srgbClr val="6C3FFF"/>
            </a:solidFill>
            <a:prstDash val="solid"/>
          </a:ln>
        </p:spPr>
      </p:sp>
      <p:sp>
        <p:nvSpPr>
          <p:cNvPr id="3" name="Text 1"/>
          <p:cNvSpPr/>
          <p:nvPr/>
        </p:nvSpPr>
        <p:spPr>
          <a:xfrm>
            <a:off x="365760" y="320040"/>
            <a:ext cx="8229600" cy="274320"/>
          </a:xfrm>
          <a:prstGeom prst="rect">
            <a:avLst/>
          </a:prstGeom>
          <a:noFill/>
          <a:ln/>
        </p:spPr>
        <p:txBody>
          <a:bodyPr wrap="square" lIns="0" tIns="0" rIns="0" bIns="0" rtlCol="0" anchor="ctr"/>
          <a:lstStyle/>
          <a:p>
            <a:pPr indent="0" marL="0">
              <a:buNone/>
            </a:pPr>
            <a:r>
              <a:rPr lang="en-US" sz="900" spc="300" kern="0" dirty="0">
                <a:solidFill>
                  <a:srgbClr val="8B8FA8"/>
                </a:solidFill>
                <a:latin typeface="Calibri" pitchFamily="34" charset="0"/>
                <a:ea typeface="Calibri" pitchFamily="34" charset="-122"/>
                <a:cs typeface="Calibri" pitchFamily="34" charset="-120"/>
              </a:rPr>
              <a:t>PRODUCT TEARDOWN  ·  MAY 2026</a:t>
            </a:r>
            <a:endParaRPr lang="en-US" sz="900" dirty="0"/>
          </a:p>
        </p:txBody>
      </p:sp>
      <p:sp>
        <p:nvSpPr>
          <p:cNvPr id="4" name="Text 2"/>
          <p:cNvSpPr/>
          <p:nvPr/>
        </p:nvSpPr>
        <p:spPr>
          <a:xfrm>
            <a:off x="365760" y="777240"/>
            <a:ext cx="5943600" cy="1005840"/>
          </a:xfrm>
          <a:prstGeom prst="rect">
            <a:avLst/>
          </a:prstGeom>
          <a:noFill/>
          <a:ln/>
        </p:spPr>
        <p:txBody>
          <a:bodyPr wrap="square" lIns="0" tIns="0" rIns="0" bIns="0"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VocalLabs.ai</a:t>
            </a:r>
            <a:endParaRPr lang="en-US" sz="5200" dirty="0"/>
          </a:p>
        </p:txBody>
      </p:sp>
      <p:sp>
        <p:nvSpPr>
          <p:cNvPr id="5" name="Text 3"/>
          <p:cNvSpPr/>
          <p:nvPr/>
        </p:nvSpPr>
        <p:spPr>
          <a:xfrm>
            <a:off x="365760" y="1783080"/>
            <a:ext cx="5943600" cy="1097280"/>
          </a:xfrm>
          <a:prstGeom prst="rect">
            <a:avLst/>
          </a:prstGeom>
          <a:noFill/>
          <a:ln/>
        </p:spPr>
        <p:txBody>
          <a:bodyPr wrap="square" lIns="0" tIns="0" rIns="0" bIns="0" rtlCol="0" anchor="ctr"/>
          <a:lstStyle/>
          <a:p>
            <a:pPr indent="0" marL="0">
              <a:buNone/>
            </a:pPr>
            <a:r>
              <a:rPr lang="en-US" sz="2200" dirty="0">
                <a:solidFill>
                  <a:srgbClr val="9B72FF"/>
                </a:solidFill>
                <a:latin typeface="Calibri" pitchFamily="34" charset="0"/>
                <a:ea typeface="Calibri" pitchFamily="34" charset="-122"/>
                <a:cs typeface="Calibri" pitchFamily="34" charset="-120"/>
              </a:rPr>
              <a:t>Five Sharp Feedbacks</a:t>
            </a:r>
            <a:endParaRPr lang="en-US" sz="2200" dirty="0"/>
          </a:p>
          <a:p>
            <a:pPr indent="0" marL="0">
              <a:buNone/>
            </a:pPr>
            <a:r>
              <a:rPr lang="en-US" sz="2200" dirty="0">
                <a:solidFill>
                  <a:srgbClr val="9B72FF"/>
                </a:solidFill>
                <a:latin typeface="Calibri" pitchFamily="34" charset="0"/>
                <a:ea typeface="Calibri" pitchFamily="34" charset="-122"/>
                <a:cs typeface="Calibri" pitchFamily="34" charset="-120"/>
              </a:rPr>
              <a:t>for a Voice AI Startup</a:t>
            </a:r>
            <a:endParaRPr lang="en-US" sz="2200" dirty="0"/>
          </a:p>
        </p:txBody>
      </p:sp>
      <p:sp>
        <p:nvSpPr>
          <p:cNvPr id="6" name="Shape 4"/>
          <p:cNvSpPr/>
          <p:nvPr/>
        </p:nvSpPr>
        <p:spPr>
          <a:xfrm>
            <a:off x="365760" y="3063240"/>
            <a:ext cx="3840480" cy="1463040"/>
          </a:xfrm>
          <a:prstGeom prst="rect">
            <a:avLst/>
          </a:prstGeom>
          <a:solidFill>
            <a:srgbClr val="1E1040"/>
          </a:solidFill>
          <a:ln w="19050">
            <a:solidFill>
              <a:srgbClr val="6C3FFF"/>
            </a:solidFill>
            <a:prstDash val="solid"/>
          </a:ln>
          <a:effectLst>
            <a:outerShdw sx="100000" sy="100000" kx="0" ky="0" algn="bl" rotWithShape="0" blurRad="101600" dist="38100" dir="8100000">
              <a:srgbClr val="000000">
                <a:alpha val="25000"/>
              </a:srgbClr>
            </a:outerShdw>
          </a:effectLst>
        </p:spPr>
      </p:sp>
      <p:sp>
        <p:nvSpPr>
          <p:cNvPr id="7" name="Text 5"/>
          <p:cNvSpPr/>
          <p:nvPr/>
        </p:nvSpPr>
        <p:spPr>
          <a:xfrm>
            <a:off x="502920" y="3182112"/>
            <a:ext cx="3566160" cy="256032"/>
          </a:xfrm>
          <a:prstGeom prst="rect">
            <a:avLst/>
          </a:prstGeom>
          <a:noFill/>
          <a:ln/>
        </p:spPr>
        <p:txBody>
          <a:bodyPr wrap="square" lIns="0" tIns="0" rIns="0" bIns="0" rtlCol="0" anchor="ctr"/>
          <a:lstStyle/>
          <a:p>
            <a:pPr indent="0" marL="0">
              <a:buNone/>
            </a:pPr>
            <a:r>
              <a:rPr lang="en-US" sz="800" b="1" spc="200" kern="0" dirty="0">
                <a:solidFill>
                  <a:srgbClr val="9B72FF"/>
                </a:solidFill>
                <a:latin typeface="Calibri" pitchFamily="34" charset="0"/>
                <a:ea typeface="Calibri" pitchFamily="34" charset="-122"/>
                <a:cs typeface="Calibri" pitchFamily="34" charset="-120"/>
              </a:rPr>
              <a:t>TEARDOWN VERDICT</a:t>
            </a:r>
            <a:endParaRPr lang="en-US" sz="800" dirty="0"/>
          </a:p>
        </p:txBody>
      </p:sp>
      <p:sp>
        <p:nvSpPr>
          <p:cNvPr id="8" name="Text 6"/>
          <p:cNvSpPr/>
          <p:nvPr/>
        </p:nvSpPr>
        <p:spPr>
          <a:xfrm>
            <a:off x="502920" y="3438144"/>
            <a:ext cx="3566160" cy="77724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Strong infra moat.</a:t>
            </a:r>
            <a:endParaRPr lang="en-US" sz="1600" dirty="0"/>
          </a:p>
          <a:p>
            <a:pPr indent="0" marL="0">
              <a:buNone/>
            </a:pPr>
            <a:r>
              <a:rPr lang="en-US" sz="1600" b="1" dirty="0">
                <a:solidFill>
                  <a:srgbClr val="FFFFFF"/>
                </a:solidFill>
                <a:latin typeface="Georgia" pitchFamily="34" charset="0"/>
                <a:ea typeface="Georgia" pitchFamily="34" charset="-122"/>
                <a:cs typeface="Georgia" pitchFamily="34" charset="-120"/>
              </a:rPr>
              <a:t>Weak GTM execution.</a:t>
            </a:r>
            <a:endParaRPr lang="en-US" sz="1600" dirty="0"/>
          </a:p>
        </p:txBody>
      </p:sp>
      <p:sp>
        <p:nvSpPr>
          <p:cNvPr id="9" name="Shape 7"/>
          <p:cNvSpPr/>
          <p:nvPr/>
        </p:nvSpPr>
        <p:spPr>
          <a:xfrm>
            <a:off x="6583680" y="640080"/>
            <a:ext cx="2194560" cy="1097280"/>
          </a:xfrm>
          <a:prstGeom prst="rect">
            <a:avLst/>
          </a:prstGeom>
          <a:solidFill>
            <a:srgbClr val="1A2B40"/>
          </a:solidFill>
          <a:ln w="9525">
            <a:solidFill>
              <a:srgbClr val="6C3FFF"/>
            </a:solidFill>
            <a:prstDash val="solid"/>
          </a:ln>
          <a:effectLst>
            <a:outerShdw sx="100000" sy="100000" kx="0" ky="0" algn="bl" rotWithShape="0" blurRad="101600" dist="38100" dir="8100000">
              <a:srgbClr val="000000">
                <a:alpha val="25000"/>
              </a:srgbClr>
            </a:outerShdw>
          </a:effectLst>
        </p:spPr>
      </p:sp>
      <p:sp>
        <p:nvSpPr>
          <p:cNvPr id="10" name="Text 8"/>
          <p:cNvSpPr/>
          <p:nvPr/>
        </p:nvSpPr>
        <p:spPr>
          <a:xfrm>
            <a:off x="6583680" y="713232"/>
            <a:ext cx="2194560" cy="594360"/>
          </a:xfrm>
          <a:prstGeom prst="rect">
            <a:avLst/>
          </a:prstGeom>
          <a:noFill/>
          <a:ln/>
        </p:spPr>
        <p:txBody>
          <a:bodyPr wrap="square" lIns="0" tIns="0" rIns="0" bIns="0" rtlCol="0" anchor="ctr"/>
          <a:lstStyle/>
          <a:p>
            <a:pPr algn="ctr" indent="0" marL="0">
              <a:buNone/>
            </a:pPr>
            <a:r>
              <a:rPr lang="en-US" sz="3600" b="1" dirty="0">
                <a:solidFill>
                  <a:srgbClr val="6C3FFF"/>
                </a:solidFill>
                <a:latin typeface="Georgia" pitchFamily="34" charset="0"/>
                <a:ea typeface="Georgia" pitchFamily="34" charset="-122"/>
                <a:cs typeface="Georgia" pitchFamily="34" charset="-120"/>
              </a:rPr>
              <a:t>5</a:t>
            </a:r>
            <a:endParaRPr lang="en-US" sz="3600" dirty="0"/>
          </a:p>
        </p:txBody>
      </p:sp>
      <p:sp>
        <p:nvSpPr>
          <p:cNvPr id="11" name="Text 9"/>
          <p:cNvSpPr/>
          <p:nvPr/>
        </p:nvSpPr>
        <p:spPr>
          <a:xfrm>
            <a:off x="6583680" y="1298448"/>
            <a:ext cx="2194560" cy="384048"/>
          </a:xfrm>
          <a:prstGeom prst="rect">
            <a:avLst/>
          </a:prstGeom>
          <a:noFill/>
          <a:ln/>
        </p:spPr>
        <p:txBody>
          <a:bodyPr wrap="square" lIns="0" tIns="0" rIns="0" bIns="0" rtlCol="0" anchor="ctr"/>
          <a:lstStyle/>
          <a:p>
            <a:pPr algn="ctr" indent="0" marL="0">
              <a:buNone/>
            </a:pPr>
            <a:r>
              <a:rPr lang="en-US" sz="1000" dirty="0">
                <a:solidFill>
                  <a:srgbClr val="E8E4F0"/>
                </a:solidFill>
                <a:latin typeface="Calibri" pitchFamily="34" charset="0"/>
                <a:ea typeface="Calibri" pitchFamily="34" charset="-122"/>
                <a:cs typeface="Calibri" pitchFamily="34" charset="-120"/>
              </a:rPr>
              <a:t>Sharp feedbacks across product pillars</a:t>
            </a:r>
            <a:endParaRPr lang="en-US" sz="1000" dirty="0"/>
          </a:p>
        </p:txBody>
      </p:sp>
      <p:sp>
        <p:nvSpPr>
          <p:cNvPr id="12" name="Shape 10"/>
          <p:cNvSpPr/>
          <p:nvPr/>
        </p:nvSpPr>
        <p:spPr>
          <a:xfrm>
            <a:off x="6583680" y="2011680"/>
            <a:ext cx="2194560" cy="1097280"/>
          </a:xfrm>
          <a:prstGeom prst="rect">
            <a:avLst/>
          </a:prstGeom>
          <a:solidFill>
            <a:srgbClr val="1A2B40"/>
          </a:solidFill>
          <a:ln w="9525">
            <a:solidFill>
              <a:srgbClr val="6C3FFF"/>
            </a:solidFill>
            <a:prstDash val="solid"/>
          </a:ln>
          <a:effectLst>
            <a:outerShdw sx="100000" sy="100000" kx="0" ky="0" algn="bl" rotWithShape="0" blurRad="101600" dist="38100" dir="8100000">
              <a:srgbClr val="000000">
                <a:alpha val="25000"/>
              </a:srgbClr>
            </a:outerShdw>
          </a:effectLst>
        </p:spPr>
      </p:sp>
      <p:sp>
        <p:nvSpPr>
          <p:cNvPr id="13" name="Text 11"/>
          <p:cNvSpPr/>
          <p:nvPr/>
        </p:nvSpPr>
        <p:spPr>
          <a:xfrm>
            <a:off x="6583680" y="2084832"/>
            <a:ext cx="2194560" cy="594360"/>
          </a:xfrm>
          <a:prstGeom prst="rect">
            <a:avLst/>
          </a:prstGeom>
          <a:noFill/>
          <a:ln/>
        </p:spPr>
        <p:txBody>
          <a:bodyPr wrap="square" lIns="0" tIns="0" rIns="0" bIns="0" rtlCol="0" anchor="ctr"/>
          <a:lstStyle/>
          <a:p>
            <a:pPr algn="ctr" indent="0" marL="0">
              <a:buNone/>
            </a:pPr>
            <a:r>
              <a:rPr lang="en-US" sz="3600" b="1" dirty="0">
                <a:solidFill>
                  <a:srgbClr val="6C3FFF"/>
                </a:solidFill>
                <a:latin typeface="Georgia" pitchFamily="34" charset="0"/>
                <a:ea typeface="Georgia" pitchFamily="34" charset="-122"/>
                <a:cs typeface="Georgia" pitchFamily="34" charset="-120"/>
              </a:rPr>
              <a:t>4</a:t>
            </a:r>
            <a:endParaRPr lang="en-US" sz="3600" dirty="0"/>
          </a:p>
        </p:txBody>
      </p:sp>
      <p:sp>
        <p:nvSpPr>
          <p:cNvPr id="14" name="Text 12"/>
          <p:cNvSpPr/>
          <p:nvPr/>
        </p:nvSpPr>
        <p:spPr>
          <a:xfrm>
            <a:off x="6583680" y="2670048"/>
            <a:ext cx="2194560" cy="384048"/>
          </a:xfrm>
          <a:prstGeom prst="rect">
            <a:avLst/>
          </a:prstGeom>
          <a:noFill/>
          <a:ln/>
        </p:spPr>
        <p:txBody>
          <a:bodyPr wrap="square" lIns="0" tIns="0" rIns="0" bIns="0" rtlCol="0" anchor="ctr"/>
          <a:lstStyle/>
          <a:p>
            <a:pPr algn="ctr" indent="0" marL="0">
              <a:buNone/>
            </a:pPr>
            <a:r>
              <a:rPr lang="en-US" sz="1000" dirty="0">
                <a:solidFill>
                  <a:srgbClr val="E8E4F0"/>
                </a:solidFill>
                <a:latin typeface="Calibri" pitchFamily="34" charset="0"/>
                <a:ea typeface="Calibri" pitchFamily="34" charset="-122"/>
                <a:cs typeface="Calibri" pitchFamily="34" charset="-120"/>
              </a:rPr>
              <a:t>Competitors benchmarked</a:t>
            </a:r>
            <a:endParaRPr lang="en-US" sz="1000" dirty="0"/>
          </a:p>
        </p:txBody>
      </p:sp>
      <p:sp>
        <p:nvSpPr>
          <p:cNvPr id="15" name="Shape 13"/>
          <p:cNvSpPr/>
          <p:nvPr/>
        </p:nvSpPr>
        <p:spPr>
          <a:xfrm>
            <a:off x="6583680" y="3383280"/>
            <a:ext cx="2194560" cy="1097280"/>
          </a:xfrm>
          <a:prstGeom prst="rect">
            <a:avLst/>
          </a:prstGeom>
          <a:solidFill>
            <a:srgbClr val="1A2B40"/>
          </a:solidFill>
          <a:ln w="9525">
            <a:solidFill>
              <a:srgbClr val="6C3FFF"/>
            </a:solidFill>
            <a:prstDash val="solid"/>
          </a:ln>
          <a:effectLst>
            <a:outerShdw sx="100000" sy="100000" kx="0" ky="0" algn="bl" rotWithShape="0" blurRad="101600" dist="38100" dir="8100000">
              <a:srgbClr val="000000">
                <a:alpha val="25000"/>
              </a:srgbClr>
            </a:outerShdw>
          </a:effectLst>
        </p:spPr>
      </p:sp>
      <p:sp>
        <p:nvSpPr>
          <p:cNvPr id="16" name="Text 14"/>
          <p:cNvSpPr/>
          <p:nvPr/>
        </p:nvSpPr>
        <p:spPr>
          <a:xfrm>
            <a:off x="6583680" y="3456432"/>
            <a:ext cx="2194560" cy="594360"/>
          </a:xfrm>
          <a:prstGeom prst="rect">
            <a:avLst/>
          </a:prstGeom>
          <a:noFill/>
          <a:ln/>
        </p:spPr>
        <p:txBody>
          <a:bodyPr wrap="square" lIns="0" tIns="0" rIns="0" bIns="0" rtlCol="0" anchor="ctr"/>
          <a:lstStyle/>
          <a:p>
            <a:pPr algn="ctr" indent="0" marL="0">
              <a:buNone/>
            </a:pPr>
            <a:r>
              <a:rPr lang="en-US" sz="3600" b="1" dirty="0">
                <a:solidFill>
                  <a:srgbClr val="6C3FFF"/>
                </a:solidFill>
                <a:latin typeface="Georgia" pitchFamily="34" charset="0"/>
                <a:ea typeface="Georgia" pitchFamily="34" charset="-122"/>
                <a:cs typeface="Georgia" pitchFamily="34" charset="-120"/>
              </a:rPr>
              <a:t>1</a:t>
            </a:r>
            <a:endParaRPr lang="en-US" sz="3600" dirty="0"/>
          </a:p>
        </p:txBody>
      </p:sp>
      <p:sp>
        <p:nvSpPr>
          <p:cNvPr id="17" name="Text 15"/>
          <p:cNvSpPr/>
          <p:nvPr/>
        </p:nvSpPr>
        <p:spPr>
          <a:xfrm>
            <a:off x="6583680" y="4041648"/>
            <a:ext cx="2194560" cy="384048"/>
          </a:xfrm>
          <a:prstGeom prst="rect">
            <a:avLst/>
          </a:prstGeom>
          <a:noFill/>
          <a:ln/>
        </p:spPr>
        <p:txBody>
          <a:bodyPr wrap="square" lIns="0" tIns="0" rIns="0" bIns="0" rtlCol="0" anchor="ctr"/>
          <a:lstStyle/>
          <a:p>
            <a:pPr algn="ctr" indent="0" marL="0">
              <a:buNone/>
            </a:pPr>
            <a:r>
              <a:rPr lang="en-US" sz="1000" dirty="0">
                <a:solidFill>
                  <a:srgbClr val="E8E4F0"/>
                </a:solidFill>
                <a:latin typeface="Calibri" pitchFamily="34" charset="0"/>
                <a:ea typeface="Calibri" pitchFamily="34" charset="-122"/>
                <a:cs typeface="Calibri" pitchFamily="34" charset="-120"/>
              </a:rPr>
              <a:t>Uncontested moat being ignored</a:t>
            </a:r>
            <a:endParaRPr lang="en-US" sz="1000" dirty="0"/>
          </a:p>
        </p:txBody>
      </p:sp>
      <p:sp>
        <p:nvSpPr>
          <p:cNvPr id="18" name="Text 16"/>
          <p:cNvSpPr/>
          <p:nvPr/>
        </p:nvSpPr>
        <p:spPr>
          <a:xfrm>
            <a:off x="365760" y="4754880"/>
            <a:ext cx="8229600" cy="228600"/>
          </a:xfrm>
          <a:prstGeom prst="rect">
            <a:avLst/>
          </a:prstGeom>
          <a:noFill/>
          <a:ln/>
        </p:spPr>
        <p:txBody>
          <a:bodyPr wrap="square" lIns="0" tIns="0" rIns="0" bIns="0" rtlCol="0" anchor="ctr"/>
          <a:lstStyle/>
          <a:p>
            <a:pPr indent="0" marL="0">
              <a:buNone/>
            </a:pPr>
            <a:r>
              <a:rPr lang="en-US" sz="900" dirty="0">
                <a:solidFill>
                  <a:srgbClr val="8B8FA8"/>
                </a:solidFill>
                <a:latin typeface="Calibri" pitchFamily="34" charset="0"/>
                <a:ea typeface="Calibri" pitchFamily="34" charset="-122"/>
                <a:cs typeface="Calibri" pitchFamily="34" charset="-120"/>
              </a:rPr>
              <a:t>Based on direct product exploration · Screenshots attached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3FFF"/>
          </a:solidFill>
          <a:ln w="12700">
            <a:solidFill>
              <a:srgbClr val="6C3FFF"/>
            </a:solidFill>
            <a:prstDash val="solid"/>
          </a:ln>
        </p:spPr>
      </p:sp>
      <p:sp>
        <p:nvSpPr>
          <p:cNvPr id="3" name="Text 1"/>
          <p:cNvSpPr/>
          <p:nvPr/>
        </p:nvSpPr>
        <p:spPr>
          <a:xfrm>
            <a:off x="365760" y="274320"/>
            <a:ext cx="914400" cy="457200"/>
          </a:xfrm>
          <a:prstGeom prst="rect">
            <a:avLst/>
          </a:prstGeom>
          <a:noFill/>
          <a:ln/>
        </p:spPr>
        <p:txBody>
          <a:bodyPr wrap="square" lIns="0" tIns="0" rIns="0" bIns="0" rtlCol="0" anchor="ctr"/>
          <a:lstStyle/>
          <a:p>
            <a:pPr indent="0" marL="0">
              <a:buNone/>
            </a:pPr>
            <a:r>
              <a:rPr lang="en-US" sz="1100" b="1" dirty="0">
                <a:solidFill>
                  <a:srgbClr val="6C3FFF"/>
                </a:solidFill>
                <a:latin typeface="Calibri" pitchFamily="34" charset="0"/>
                <a:ea typeface="Calibri" pitchFamily="34" charset="-122"/>
                <a:cs typeface="Calibri" pitchFamily="34" charset="-120"/>
              </a:rPr>
              <a:t>01</a:t>
            </a:r>
            <a:endParaRPr lang="en-US" sz="1100" dirty="0"/>
          </a:p>
        </p:txBody>
      </p:sp>
      <p:sp>
        <p:nvSpPr>
          <p:cNvPr id="4" name="Text 2"/>
          <p:cNvSpPr/>
          <p:nvPr/>
        </p:nvSpPr>
        <p:spPr>
          <a:xfrm>
            <a:off x="365760" y="502920"/>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Executive Summary</a:t>
            </a:r>
            <a:endParaRPr lang="en-US" sz="2800" dirty="0"/>
          </a:p>
        </p:txBody>
      </p:sp>
      <p:sp>
        <p:nvSpPr>
          <p:cNvPr id="5" name="Shape 3"/>
          <p:cNvSpPr/>
          <p:nvPr/>
        </p:nvSpPr>
        <p:spPr>
          <a:xfrm>
            <a:off x="365760" y="1143000"/>
            <a:ext cx="4023360" cy="3474720"/>
          </a:xfrm>
          <a:prstGeom prst="rect">
            <a:avLst/>
          </a:prstGeom>
          <a:solidFill>
            <a:srgbClr val="1A2B40"/>
          </a:solidFill>
          <a:ln w="6350">
            <a:solidFill>
              <a:srgbClr val="6C3FFF"/>
            </a:solidFill>
            <a:prstDash val="solid"/>
          </a:ln>
        </p:spPr>
      </p:sp>
      <p:sp>
        <p:nvSpPr>
          <p:cNvPr id="6" name="Text 4"/>
          <p:cNvSpPr/>
          <p:nvPr/>
        </p:nvSpPr>
        <p:spPr>
          <a:xfrm>
            <a:off x="548640" y="1261872"/>
            <a:ext cx="3657600" cy="256032"/>
          </a:xfrm>
          <a:prstGeom prst="rect">
            <a:avLst/>
          </a:prstGeom>
          <a:noFill/>
          <a:ln/>
        </p:spPr>
        <p:txBody>
          <a:bodyPr wrap="square" lIns="0" tIns="0" rIns="0" bIns="0" rtlCol="0" anchor="ctr"/>
          <a:lstStyle/>
          <a:p>
            <a:pPr indent="0" marL="0">
              <a:buNone/>
            </a:pPr>
            <a:r>
              <a:rPr lang="en-US" sz="800" b="1" spc="200" kern="0" dirty="0">
                <a:solidFill>
                  <a:srgbClr val="9B72FF"/>
                </a:solidFill>
                <a:latin typeface="Calibri" pitchFamily="34" charset="0"/>
                <a:ea typeface="Calibri" pitchFamily="34" charset="-122"/>
                <a:cs typeface="Calibri" pitchFamily="34" charset="-120"/>
              </a:rPr>
              <a:t>WHAT VOCALLABS IS</a:t>
            </a:r>
            <a:endParaRPr lang="en-US" sz="800" dirty="0"/>
          </a:p>
        </p:txBody>
      </p:sp>
      <p:sp>
        <p:nvSpPr>
          <p:cNvPr id="7" name="Text 5"/>
          <p:cNvSpPr/>
          <p:nvPr/>
        </p:nvSpPr>
        <p:spPr>
          <a:xfrm>
            <a:off x="548640" y="1572768"/>
            <a:ext cx="3657600" cy="2880360"/>
          </a:xfrm>
          <a:prstGeom prst="rect">
            <a:avLst/>
          </a:prstGeom>
          <a:noFill/>
          <a:ln/>
        </p:spPr>
        <p:txBody>
          <a:bodyPr wrap="square" lIns="0" tIns="0" rIns="0" bIns="0" rtlCol="0" anchor="t"/>
          <a:lstStyle/>
          <a:p>
            <a:pPr indent="0" marL="0">
              <a:buNone/>
            </a:pPr>
            <a:r>
              <a:rPr lang="en-US" sz="1200" b="1" dirty="0">
                <a:solidFill>
                  <a:srgbClr val="E8E4F0"/>
                </a:solidFill>
                <a:latin typeface="Calibri" pitchFamily="34" charset="0"/>
                <a:ea typeface="Calibri" pitchFamily="34" charset="-122"/>
                <a:cs typeface="Calibri" pitchFamily="34" charset="-120"/>
              </a:rPr>
              <a:t>Voice AI infrastructure + agent platform
</a:t>
            </a:r>
            <a:pPr indent="0" marL="0">
              <a:buNone/>
            </a:pPr>
            <a:r>
              <a:rPr lang="en-US" sz="1200" dirty="0">
                <a:solidFill>
                  <a:srgbClr val="E8E4F0"/>
                </a:solidFill>
                <a:latin typeface="Calibri" pitchFamily="34" charset="0"/>
                <a:ea typeface="Calibri" pitchFamily="34" charset="-122"/>
                <a:cs typeface="Calibri" pitchFamily="34" charset="-120"/>
              </a:rPr>
              <a:t>Telephony APIs (SIP/WebRTC/PSTN), hosted LLM/TTS/ASR, and AI voice agents for support, booking, sales, and enterprise automation.
</a:t>
            </a:r>
            <a:pPr indent="0" marL="0">
              <a:buNone/>
            </a:pPr>
            <a:r>
              <a:rPr lang="en-US" sz="1200" b="1" dirty="0">
                <a:solidFill>
                  <a:srgbClr val="E8E4F0"/>
                </a:solidFill>
                <a:latin typeface="Calibri" pitchFamily="34" charset="0"/>
                <a:ea typeface="Calibri" pitchFamily="34" charset="-122"/>
                <a:cs typeface="Calibri" pitchFamily="34" charset="-120"/>
              </a:rPr>
              <a:t>Key strengths:
</a:t>
            </a:r>
            <a:pPr indent="0" marL="0">
              <a:buNone/>
            </a:pPr>
            <a:r>
              <a:rPr lang="en-US" sz="1200" dirty="0">
                <a:solidFill>
                  <a:srgbClr val="E8E4F0"/>
                </a:solidFill>
                <a:latin typeface="Calibri" pitchFamily="34" charset="0"/>
                <a:ea typeface="Calibri" pitchFamily="34" charset="-122"/>
                <a:cs typeface="Calibri" pitchFamily="34" charset="-120"/>
              </a:rPr>
              <a:t>• Sub-300ms latency, barge-in support</a:t>
            </a:r>
            <a:endParaRPr lang="en-US" sz="1200" dirty="0"/>
          </a:p>
          <a:p>
            <a:pPr indent="0" marL="0">
              <a:buNone/>
            </a:pPr>
            <a:r>
              <a:rPr lang="en-US" sz="1200" dirty="0">
                <a:solidFill>
                  <a:srgbClr val="E8E4F0"/>
                </a:solidFill>
                <a:latin typeface="Calibri" pitchFamily="34" charset="0"/>
                <a:ea typeface="Calibri" pitchFamily="34" charset="-122"/>
                <a:cs typeface="Calibri" pitchFamily="34" charset="-120"/>
              </a:rPr>
              <a:t>• Full-stack ownership (no 3rd-party dependency)</a:t>
            </a:r>
            <a:endParaRPr lang="en-US" sz="1200" dirty="0"/>
          </a:p>
          <a:p>
            <a:pPr indent="0" marL="0">
              <a:buNone/>
            </a:pPr>
            <a:r>
              <a:rPr lang="en-US" sz="1200" dirty="0">
                <a:solidFill>
                  <a:srgbClr val="E8E4F0"/>
                </a:solidFill>
                <a:latin typeface="Calibri" pitchFamily="34" charset="0"/>
                <a:ea typeface="Calibri" pitchFamily="34" charset="-122"/>
                <a:cs typeface="Calibri" pitchFamily="34" charset="-120"/>
              </a:rPr>
              <a:t>• India-first language &amp; accent tuning</a:t>
            </a:r>
            <a:endParaRPr lang="en-US" sz="1200" dirty="0"/>
          </a:p>
          <a:p>
            <a:pPr indent="0" marL="0">
              <a:buNone/>
            </a:pPr>
            <a:r>
              <a:rPr lang="en-US" sz="1200" dirty="0">
                <a:solidFill>
                  <a:srgbClr val="E8E4F0"/>
                </a:solidFill>
                <a:latin typeface="Calibri" pitchFamily="34" charset="0"/>
                <a:ea typeface="Calibri" pitchFamily="34" charset="-122"/>
                <a:cs typeface="Calibri" pitchFamily="34" charset="-120"/>
              </a:rPr>
              <a:t>• Scales from 1 to millions of concurrent calls</a:t>
            </a:r>
            <a:endParaRPr lang="en-US" sz="1200" dirty="0"/>
          </a:p>
        </p:txBody>
      </p:sp>
      <p:sp>
        <p:nvSpPr>
          <p:cNvPr id="8" name="Shape 6"/>
          <p:cNvSpPr/>
          <p:nvPr/>
        </p:nvSpPr>
        <p:spPr>
          <a:xfrm>
            <a:off x="4663440" y="1143000"/>
            <a:ext cx="2057400" cy="1691640"/>
          </a:xfrm>
          <a:prstGeom prst="rect">
            <a:avLst/>
          </a:prstGeom>
          <a:solidFill>
            <a:srgbClr val="1A2B40"/>
          </a:solidFill>
          <a:ln w="19050">
            <a:solidFill>
              <a:srgbClr val="6C3FFF"/>
            </a:solidFill>
            <a:prstDash val="solid"/>
          </a:ln>
        </p:spPr>
      </p:sp>
      <p:sp>
        <p:nvSpPr>
          <p:cNvPr id="9" name="Shape 7"/>
          <p:cNvSpPr/>
          <p:nvPr/>
        </p:nvSpPr>
        <p:spPr>
          <a:xfrm>
            <a:off x="4663440" y="1143000"/>
            <a:ext cx="2057400" cy="201168"/>
          </a:xfrm>
          <a:prstGeom prst="rect">
            <a:avLst/>
          </a:prstGeom>
          <a:solidFill>
            <a:srgbClr val="6C3FFF"/>
          </a:solidFill>
          <a:ln w="12700">
            <a:solidFill>
              <a:srgbClr val="6C3FFF"/>
            </a:solidFill>
            <a:prstDash val="solid"/>
          </a:ln>
        </p:spPr>
      </p:sp>
      <p:sp>
        <p:nvSpPr>
          <p:cNvPr id="10" name="Text 8"/>
          <p:cNvSpPr/>
          <p:nvPr/>
        </p:nvSpPr>
        <p:spPr>
          <a:xfrm>
            <a:off x="4754880" y="1161288"/>
            <a:ext cx="1874520" cy="182880"/>
          </a:xfrm>
          <a:prstGeom prst="rect">
            <a:avLst/>
          </a:prstGeom>
          <a:noFill/>
          <a:ln/>
        </p:spPr>
        <p:txBody>
          <a:bodyPr wrap="square" lIns="0" tIns="0" rIns="0" bIns="0" rtlCol="0" anchor="ctr"/>
          <a:lstStyle/>
          <a:p>
            <a:pPr indent="0" marL="0">
              <a:buNone/>
            </a:pPr>
            <a:r>
              <a:rPr lang="en-US" sz="800" b="1" dirty="0">
                <a:solidFill>
                  <a:srgbClr val="0D1B2A"/>
                </a:solidFill>
                <a:latin typeface="Calibri" pitchFamily="34" charset="0"/>
                <a:ea typeface="Calibri" pitchFamily="34" charset="-122"/>
                <a:cs typeface="Calibri" pitchFamily="34" charset="-120"/>
              </a:rPr>
              <a:t>Business Model</a:t>
            </a:r>
            <a:endParaRPr lang="en-US" sz="800" dirty="0"/>
          </a:p>
        </p:txBody>
      </p:sp>
      <p:sp>
        <p:nvSpPr>
          <p:cNvPr id="11" name="Text 9"/>
          <p:cNvSpPr/>
          <p:nvPr/>
        </p:nvSpPr>
        <p:spPr>
          <a:xfrm>
            <a:off x="4754880" y="1417320"/>
            <a:ext cx="1920240" cy="1325880"/>
          </a:xfrm>
          <a:prstGeom prst="rect">
            <a:avLst/>
          </a:prstGeom>
          <a:noFill/>
          <a:ln/>
        </p:spPr>
        <p:txBody>
          <a:bodyPr wrap="square" lIns="0" tIns="0" rIns="0" bIns="0" rtlCol="0" anchor="t"/>
          <a:lstStyle/>
          <a:p>
            <a:pPr indent="0" marL="0">
              <a:buNone/>
            </a:pPr>
            <a:r>
              <a:rPr lang="en-US" sz="1100" dirty="0">
                <a:solidFill>
                  <a:srgbClr val="E8E4F0"/>
                </a:solidFill>
                <a:latin typeface="Calibri" pitchFamily="34" charset="0"/>
                <a:ea typeface="Calibri" pitchFamily="34" charset="-122"/>
                <a:cs typeface="Calibri" pitchFamily="34" charset="-120"/>
              </a:rPr>
              <a:t>API usage + enterprise SLA contracts</a:t>
            </a:r>
            <a:endParaRPr lang="en-US" sz="1100" dirty="0"/>
          </a:p>
        </p:txBody>
      </p:sp>
      <p:sp>
        <p:nvSpPr>
          <p:cNvPr id="12" name="Shape 10"/>
          <p:cNvSpPr/>
          <p:nvPr/>
        </p:nvSpPr>
        <p:spPr>
          <a:xfrm>
            <a:off x="6812280" y="1143000"/>
            <a:ext cx="2057400" cy="1691640"/>
          </a:xfrm>
          <a:prstGeom prst="rect">
            <a:avLst/>
          </a:prstGeom>
          <a:solidFill>
            <a:srgbClr val="1A2B40"/>
          </a:solidFill>
          <a:ln w="19050">
            <a:solidFill>
              <a:srgbClr val="F5A623"/>
            </a:solidFill>
            <a:prstDash val="solid"/>
          </a:ln>
        </p:spPr>
      </p:sp>
      <p:sp>
        <p:nvSpPr>
          <p:cNvPr id="13" name="Shape 11"/>
          <p:cNvSpPr/>
          <p:nvPr/>
        </p:nvSpPr>
        <p:spPr>
          <a:xfrm>
            <a:off x="6812280" y="1143000"/>
            <a:ext cx="2057400" cy="201168"/>
          </a:xfrm>
          <a:prstGeom prst="rect">
            <a:avLst/>
          </a:prstGeom>
          <a:solidFill>
            <a:srgbClr val="F5A623"/>
          </a:solidFill>
          <a:ln w="12700">
            <a:solidFill>
              <a:srgbClr val="F5A623"/>
            </a:solidFill>
            <a:prstDash val="solid"/>
          </a:ln>
        </p:spPr>
      </p:sp>
      <p:sp>
        <p:nvSpPr>
          <p:cNvPr id="14" name="Text 12"/>
          <p:cNvSpPr/>
          <p:nvPr/>
        </p:nvSpPr>
        <p:spPr>
          <a:xfrm>
            <a:off x="6903720" y="1161288"/>
            <a:ext cx="1874520" cy="182880"/>
          </a:xfrm>
          <a:prstGeom prst="rect">
            <a:avLst/>
          </a:prstGeom>
          <a:noFill/>
          <a:ln/>
        </p:spPr>
        <p:txBody>
          <a:bodyPr wrap="square" lIns="0" tIns="0" rIns="0" bIns="0" rtlCol="0" anchor="ctr"/>
          <a:lstStyle/>
          <a:p>
            <a:pPr indent="0" marL="0">
              <a:buNone/>
            </a:pPr>
            <a:r>
              <a:rPr lang="en-US" sz="800" b="1" dirty="0">
                <a:solidFill>
                  <a:srgbClr val="0D1B2A"/>
                </a:solidFill>
                <a:latin typeface="Calibri" pitchFamily="34" charset="0"/>
                <a:ea typeface="Calibri" pitchFamily="34" charset="-122"/>
                <a:cs typeface="Calibri" pitchFamily="34" charset="-120"/>
              </a:rPr>
              <a:t>GTM Motion</a:t>
            </a:r>
            <a:endParaRPr lang="en-US" sz="800" dirty="0"/>
          </a:p>
        </p:txBody>
      </p:sp>
      <p:sp>
        <p:nvSpPr>
          <p:cNvPr id="15" name="Text 13"/>
          <p:cNvSpPr/>
          <p:nvPr/>
        </p:nvSpPr>
        <p:spPr>
          <a:xfrm>
            <a:off x="6903720" y="1417320"/>
            <a:ext cx="1920240" cy="1325880"/>
          </a:xfrm>
          <a:prstGeom prst="rect">
            <a:avLst/>
          </a:prstGeom>
          <a:noFill/>
          <a:ln/>
        </p:spPr>
        <p:txBody>
          <a:bodyPr wrap="square" lIns="0" tIns="0" rIns="0" bIns="0" rtlCol="0" anchor="t"/>
          <a:lstStyle/>
          <a:p>
            <a:pPr indent="0" marL="0">
              <a:buNone/>
            </a:pPr>
            <a:r>
              <a:rPr lang="en-US" sz="1100" dirty="0">
                <a:solidFill>
                  <a:srgbClr val="E8E4F0"/>
                </a:solidFill>
                <a:latin typeface="Calibri" pitchFamily="34" charset="0"/>
                <a:ea typeface="Calibri" pitchFamily="34" charset="-122"/>
                <a:cs typeface="Calibri" pitchFamily="34" charset="-120"/>
              </a:rPr>
              <a:t>Sales-led with dev-first messaging — identity conflict</a:t>
            </a:r>
            <a:endParaRPr lang="en-US" sz="1100" dirty="0"/>
          </a:p>
        </p:txBody>
      </p:sp>
      <p:sp>
        <p:nvSpPr>
          <p:cNvPr id="16" name="Shape 14"/>
          <p:cNvSpPr/>
          <p:nvPr/>
        </p:nvSpPr>
        <p:spPr>
          <a:xfrm>
            <a:off x="4663440" y="2926080"/>
            <a:ext cx="2057400" cy="1691640"/>
          </a:xfrm>
          <a:prstGeom prst="rect">
            <a:avLst/>
          </a:prstGeom>
          <a:solidFill>
            <a:srgbClr val="1A2B40"/>
          </a:solidFill>
          <a:ln w="19050">
            <a:solidFill>
              <a:srgbClr val="E8445A"/>
            </a:solidFill>
            <a:prstDash val="solid"/>
          </a:ln>
        </p:spPr>
      </p:sp>
      <p:sp>
        <p:nvSpPr>
          <p:cNvPr id="17" name="Shape 15"/>
          <p:cNvSpPr/>
          <p:nvPr/>
        </p:nvSpPr>
        <p:spPr>
          <a:xfrm>
            <a:off x="4663440" y="2926080"/>
            <a:ext cx="2057400" cy="201168"/>
          </a:xfrm>
          <a:prstGeom prst="rect">
            <a:avLst/>
          </a:prstGeom>
          <a:solidFill>
            <a:srgbClr val="E8445A"/>
          </a:solidFill>
          <a:ln w="12700">
            <a:solidFill>
              <a:srgbClr val="E8445A"/>
            </a:solidFill>
            <a:prstDash val="solid"/>
          </a:ln>
        </p:spPr>
      </p:sp>
      <p:sp>
        <p:nvSpPr>
          <p:cNvPr id="18" name="Text 16"/>
          <p:cNvSpPr/>
          <p:nvPr/>
        </p:nvSpPr>
        <p:spPr>
          <a:xfrm>
            <a:off x="4754880" y="2944368"/>
            <a:ext cx="1874520" cy="182880"/>
          </a:xfrm>
          <a:prstGeom prst="rect">
            <a:avLst/>
          </a:prstGeom>
          <a:noFill/>
          <a:ln/>
        </p:spPr>
        <p:txBody>
          <a:bodyPr wrap="square" lIns="0" tIns="0" rIns="0" bIns="0" rtlCol="0" anchor="ctr"/>
          <a:lstStyle/>
          <a:p>
            <a:pPr indent="0" marL="0">
              <a:buNone/>
            </a:pPr>
            <a:r>
              <a:rPr lang="en-US" sz="800" b="1" dirty="0">
                <a:solidFill>
                  <a:srgbClr val="0D1B2A"/>
                </a:solidFill>
                <a:latin typeface="Calibri" pitchFamily="34" charset="0"/>
                <a:ea typeface="Calibri" pitchFamily="34" charset="-122"/>
                <a:cs typeface="Calibri" pitchFamily="34" charset="-120"/>
              </a:rPr>
              <a:t>Biggest Risk</a:t>
            </a:r>
            <a:endParaRPr lang="en-US" sz="800" dirty="0"/>
          </a:p>
        </p:txBody>
      </p:sp>
      <p:sp>
        <p:nvSpPr>
          <p:cNvPr id="19" name="Text 17"/>
          <p:cNvSpPr/>
          <p:nvPr/>
        </p:nvSpPr>
        <p:spPr>
          <a:xfrm>
            <a:off x="4754880" y="3200400"/>
            <a:ext cx="1920240" cy="1325880"/>
          </a:xfrm>
          <a:prstGeom prst="rect">
            <a:avLst/>
          </a:prstGeom>
          <a:noFill/>
          <a:ln/>
        </p:spPr>
        <p:txBody>
          <a:bodyPr wrap="square" lIns="0" tIns="0" rIns="0" bIns="0" rtlCol="0" anchor="t"/>
          <a:lstStyle/>
          <a:p>
            <a:pPr indent="0" marL="0">
              <a:buNone/>
            </a:pPr>
            <a:r>
              <a:rPr lang="en-US" sz="1100" dirty="0">
                <a:solidFill>
                  <a:srgbClr val="E8E4F0"/>
                </a:solidFill>
                <a:latin typeface="Calibri" pitchFamily="34" charset="0"/>
                <a:ea typeface="Calibri" pitchFamily="34" charset="-122"/>
                <a:cs typeface="Calibri" pitchFamily="34" charset="-120"/>
              </a:rPr>
              <a:t>ICP ambiguity killing conversion across all segments</a:t>
            </a:r>
            <a:endParaRPr lang="en-US" sz="1100" dirty="0"/>
          </a:p>
        </p:txBody>
      </p:sp>
      <p:sp>
        <p:nvSpPr>
          <p:cNvPr id="20" name="Shape 18"/>
          <p:cNvSpPr/>
          <p:nvPr/>
        </p:nvSpPr>
        <p:spPr>
          <a:xfrm>
            <a:off x="6812280" y="2926080"/>
            <a:ext cx="2057400" cy="1691640"/>
          </a:xfrm>
          <a:prstGeom prst="rect">
            <a:avLst/>
          </a:prstGeom>
          <a:solidFill>
            <a:srgbClr val="1A2B40"/>
          </a:solidFill>
          <a:ln w="19050">
            <a:solidFill>
              <a:srgbClr val="22C97A"/>
            </a:solidFill>
            <a:prstDash val="solid"/>
          </a:ln>
        </p:spPr>
      </p:sp>
      <p:sp>
        <p:nvSpPr>
          <p:cNvPr id="21" name="Shape 19"/>
          <p:cNvSpPr/>
          <p:nvPr/>
        </p:nvSpPr>
        <p:spPr>
          <a:xfrm>
            <a:off x="6812280" y="2926080"/>
            <a:ext cx="2057400" cy="201168"/>
          </a:xfrm>
          <a:prstGeom prst="rect">
            <a:avLst/>
          </a:prstGeom>
          <a:solidFill>
            <a:srgbClr val="22C97A"/>
          </a:solidFill>
          <a:ln w="12700">
            <a:solidFill>
              <a:srgbClr val="22C97A"/>
            </a:solidFill>
            <a:prstDash val="solid"/>
          </a:ln>
        </p:spPr>
      </p:sp>
      <p:sp>
        <p:nvSpPr>
          <p:cNvPr id="22" name="Text 20"/>
          <p:cNvSpPr/>
          <p:nvPr/>
        </p:nvSpPr>
        <p:spPr>
          <a:xfrm>
            <a:off x="6903720" y="2944368"/>
            <a:ext cx="1874520" cy="182880"/>
          </a:xfrm>
          <a:prstGeom prst="rect">
            <a:avLst/>
          </a:prstGeom>
          <a:noFill/>
          <a:ln/>
        </p:spPr>
        <p:txBody>
          <a:bodyPr wrap="square" lIns="0" tIns="0" rIns="0" bIns="0" rtlCol="0" anchor="ctr"/>
          <a:lstStyle/>
          <a:p>
            <a:pPr indent="0" marL="0">
              <a:buNone/>
            </a:pPr>
            <a:r>
              <a:rPr lang="en-US" sz="800" b="1" dirty="0">
                <a:solidFill>
                  <a:srgbClr val="0D1B2A"/>
                </a:solidFill>
                <a:latin typeface="Calibri" pitchFamily="34" charset="0"/>
                <a:ea typeface="Calibri" pitchFamily="34" charset="-122"/>
                <a:cs typeface="Calibri" pitchFamily="34" charset="-120"/>
              </a:rPr>
              <a:t>Biggest Opportunity</a:t>
            </a:r>
            <a:endParaRPr lang="en-US" sz="800" dirty="0"/>
          </a:p>
        </p:txBody>
      </p:sp>
      <p:sp>
        <p:nvSpPr>
          <p:cNvPr id="23" name="Text 21"/>
          <p:cNvSpPr/>
          <p:nvPr/>
        </p:nvSpPr>
        <p:spPr>
          <a:xfrm>
            <a:off x="6903720" y="3200400"/>
            <a:ext cx="1920240" cy="1325880"/>
          </a:xfrm>
          <a:prstGeom prst="rect">
            <a:avLst/>
          </a:prstGeom>
          <a:noFill/>
          <a:ln/>
        </p:spPr>
        <p:txBody>
          <a:bodyPr wrap="square" lIns="0" tIns="0" rIns="0" bIns="0" rtlCol="0" anchor="t"/>
          <a:lstStyle/>
          <a:p>
            <a:pPr indent="0" marL="0">
              <a:buNone/>
            </a:pPr>
            <a:r>
              <a:rPr lang="en-US" sz="1100" dirty="0">
                <a:solidFill>
                  <a:srgbClr val="E8E4F0"/>
                </a:solidFill>
                <a:latin typeface="Calibri" pitchFamily="34" charset="0"/>
                <a:ea typeface="Calibri" pitchFamily="34" charset="-122"/>
                <a:cs typeface="Calibri" pitchFamily="34" charset="-120"/>
              </a:rPr>
              <a:t>Interactive playground + India-first wedge = uncontested growth</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3FFF"/>
          </a:solidFill>
          <a:ln w="12700">
            <a:solidFill>
              <a:srgbClr val="6C3FFF"/>
            </a:solidFill>
            <a:prstDash val="solid"/>
          </a:ln>
        </p:spPr>
      </p:sp>
      <p:sp>
        <p:nvSpPr>
          <p:cNvPr id="3" name="Text 1"/>
          <p:cNvSpPr/>
          <p:nvPr/>
        </p:nvSpPr>
        <p:spPr>
          <a:xfrm>
            <a:off x="365760" y="274320"/>
            <a:ext cx="914400" cy="457200"/>
          </a:xfrm>
          <a:prstGeom prst="rect">
            <a:avLst/>
          </a:prstGeom>
          <a:noFill/>
          <a:ln/>
        </p:spPr>
        <p:txBody>
          <a:bodyPr wrap="square" lIns="0" tIns="0" rIns="0" bIns="0" rtlCol="0" anchor="ctr"/>
          <a:lstStyle/>
          <a:p>
            <a:pPr indent="0" marL="0">
              <a:buNone/>
            </a:pPr>
            <a:r>
              <a:rPr lang="en-US" sz="1100" b="1" dirty="0">
                <a:solidFill>
                  <a:srgbClr val="6C3FFF"/>
                </a:solidFill>
                <a:latin typeface="Calibri" pitchFamily="34" charset="0"/>
                <a:ea typeface="Calibri" pitchFamily="34" charset="-122"/>
                <a:cs typeface="Calibri" pitchFamily="34" charset="-120"/>
              </a:rPr>
              <a:t>02</a:t>
            </a:r>
            <a:endParaRPr lang="en-US" sz="1100" dirty="0"/>
          </a:p>
        </p:txBody>
      </p:sp>
      <p:sp>
        <p:nvSpPr>
          <p:cNvPr id="4" name="Text 2"/>
          <p:cNvSpPr/>
          <p:nvPr/>
        </p:nvSpPr>
        <p:spPr>
          <a:xfrm>
            <a:off x="365760" y="502920"/>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ICP &amp; Competitor Landscape</a:t>
            </a:r>
            <a:endParaRPr lang="en-US" sz="2800" dirty="0"/>
          </a:p>
        </p:txBody>
      </p:sp>
      <p:sp>
        <p:nvSpPr>
          <p:cNvPr id="5" name="Shape 3"/>
          <p:cNvSpPr/>
          <p:nvPr/>
        </p:nvSpPr>
        <p:spPr>
          <a:xfrm>
            <a:off x="365760" y="1143000"/>
            <a:ext cx="2084832" cy="1691640"/>
          </a:xfrm>
          <a:prstGeom prst="rect">
            <a:avLst/>
          </a:prstGeom>
          <a:solidFill>
            <a:srgbClr val="1A2B40"/>
          </a:solidFill>
          <a:ln w="12700">
            <a:solidFill>
              <a:srgbClr val="6C3FFF"/>
            </a:solidFill>
            <a:prstDash val="solid"/>
          </a:ln>
        </p:spPr>
      </p:sp>
      <p:sp>
        <p:nvSpPr>
          <p:cNvPr id="6" name="Text 4"/>
          <p:cNvSpPr/>
          <p:nvPr/>
        </p:nvSpPr>
        <p:spPr>
          <a:xfrm>
            <a:off x="457200" y="1207008"/>
            <a:ext cx="1920240" cy="201168"/>
          </a:xfrm>
          <a:prstGeom prst="rect">
            <a:avLst/>
          </a:prstGeom>
          <a:noFill/>
          <a:ln/>
        </p:spPr>
        <p:txBody>
          <a:bodyPr wrap="square" lIns="0" tIns="0" rIns="0" bIns="0" rtlCol="0" anchor="ctr"/>
          <a:lstStyle/>
          <a:p>
            <a:pPr indent="0" marL="0">
              <a:buNone/>
            </a:pPr>
            <a:r>
              <a:rPr lang="en-US" sz="800" b="1" spc="100" kern="0" dirty="0">
                <a:solidFill>
                  <a:srgbClr val="6C3FFF"/>
                </a:solidFill>
                <a:latin typeface="Calibri" pitchFamily="34" charset="0"/>
                <a:ea typeface="Calibri" pitchFamily="34" charset="-122"/>
                <a:cs typeface="Calibri" pitchFamily="34" charset="-120"/>
              </a:rPr>
              <a:t>PRIMARY A</a:t>
            </a:r>
            <a:endParaRPr lang="en-US" sz="800" dirty="0"/>
          </a:p>
        </p:txBody>
      </p:sp>
      <p:sp>
        <p:nvSpPr>
          <p:cNvPr id="7" name="Text 5"/>
          <p:cNvSpPr/>
          <p:nvPr/>
        </p:nvSpPr>
        <p:spPr>
          <a:xfrm>
            <a:off x="457200" y="1417320"/>
            <a:ext cx="192024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Startup Developers</a:t>
            </a:r>
            <a:endParaRPr lang="en-US" sz="1300" dirty="0"/>
          </a:p>
        </p:txBody>
      </p:sp>
      <p:sp>
        <p:nvSpPr>
          <p:cNvPr id="8" name="Text 6"/>
          <p:cNvSpPr/>
          <p:nvPr/>
        </p:nvSpPr>
        <p:spPr>
          <a:xfrm>
            <a:off x="457200" y="1737360"/>
            <a:ext cx="1920240" cy="1005840"/>
          </a:xfrm>
          <a:prstGeom prst="rect">
            <a:avLst/>
          </a:prstGeom>
          <a:noFill/>
          <a:ln/>
        </p:spPr>
        <p:txBody>
          <a:bodyPr wrap="square" lIns="0" tIns="0" rIns="0" bIns="0" rtlCol="0" anchor="t"/>
          <a:lstStyle/>
          <a:p>
            <a:pPr indent="0" marL="0">
              <a:buNone/>
            </a:pPr>
            <a:r>
              <a:rPr lang="en-US" sz="1000" dirty="0">
                <a:solidFill>
                  <a:srgbClr val="E8E4F0"/>
                </a:solidFill>
                <a:latin typeface="Calibri" pitchFamily="34" charset="0"/>
                <a:ea typeface="Calibri" pitchFamily="34" charset="-122"/>
                <a:cs typeface="Calibri" pitchFamily="34" charset="-120"/>
              </a:rPr>
              <a:t>API quality, latency, docs. Will self-serve if sandbox exists. Currently lost to Vapi/Retell.</a:t>
            </a:r>
            <a:endParaRPr lang="en-US" sz="1000" dirty="0"/>
          </a:p>
        </p:txBody>
      </p:sp>
      <p:sp>
        <p:nvSpPr>
          <p:cNvPr id="9" name="Shape 7"/>
          <p:cNvSpPr/>
          <p:nvPr/>
        </p:nvSpPr>
        <p:spPr>
          <a:xfrm>
            <a:off x="2560320" y="1143000"/>
            <a:ext cx="2084832" cy="1691640"/>
          </a:xfrm>
          <a:prstGeom prst="rect">
            <a:avLst/>
          </a:prstGeom>
          <a:solidFill>
            <a:srgbClr val="1A2B40"/>
          </a:solidFill>
          <a:ln w="12700">
            <a:solidFill>
              <a:srgbClr val="9B72FF"/>
            </a:solidFill>
            <a:prstDash val="solid"/>
          </a:ln>
        </p:spPr>
      </p:sp>
      <p:sp>
        <p:nvSpPr>
          <p:cNvPr id="10" name="Text 8"/>
          <p:cNvSpPr/>
          <p:nvPr/>
        </p:nvSpPr>
        <p:spPr>
          <a:xfrm>
            <a:off x="2651760" y="1207008"/>
            <a:ext cx="1920240" cy="201168"/>
          </a:xfrm>
          <a:prstGeom prst="rect">
            <a:avLst/>
          </a:prstGeom>
          <a:noFill/>
          <a:ln/>
        </p:spPr>
        <p:txBody>
          <a:bodyPr wrap="square" lIns="0" tIns="0" rIns="0" bIns="0" rtlCol="0" anchor="ctr"/>
          <a:lstStyle/>
          <a:p>
            <a:pPr indent="0" marL="0">
              <a:buNone/>
            </a:pPr>
            <a:r>
              <a:rPr lang="en-US" sz="800" b="1" spc="100" kern="0" dirty="0">
                <a:solidFill>
                  <a:srgbClr val="9B72FF"/>
                </a:solidFill>
                <a:latin typeface="Calibri" pitchFamily="34" charset="0"/>
                <a:ea typeface="Calibri" pitchFamily="34" charset="-122"/>
                <a:cs typeface="Calibri" pitchFamily="34" charset="-120"/>
              </a:rPr>
              <a:t>PRIMARY B</a:t>
            </a:r>
            <a:endParaRPr lang="en-US" sz="800" dirty="0"/>
          </a:p>
        </p:txBody>
      </p:sp>
      <p:sp>
        <p:nvSpPr>
          <p:cNvPr id="11" name="Text 9"/>
          <p:cNvSpPr/>
          <p:nvPr/>
        </p:nvSpPr>
        <p:spPr>
          <a:xfrm>
            <a:off x="2651760" y="1417320"/>
            <a:ext cx="192024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Mid-Market Ops</a:t>
            </a:r>
            <a:endParaRPr lang="en-US" sz="1300" dirty="0"/>
          </a:p>
        </p:txBody>
      </p:sp>
      <p:sp>
        <p:nvSpPr>
          <p:cNvPr id="12" name="Text 10"/>
          <p:cNvSpPr/>
          <p:nvPr/>
        </p:nvSpPr>
        <p:spPr>
          <a:xfrm>
            <a:off x="2651760" y="1737360"/>
            <a:ext cx="1920240" cy="1005840"/>
          </a:xfrm>
          <a:prstGeom prst="rect">
            <a:avLst/>
          </a:prstGeom>
          <a:noFill/>
          <a:ln/>
        </p:spPr>
        <p:txBody>
          <a:bodyPr wrap="square" lIns="0" tIns="0" rIns="0" bIns="0" rtlCol="0" anchor="t"/>
          <a:lstStyle/>
          <a:p>
            <a:pPr indent="0" marL="0">
              <a:buNone/>
            </a:pPr>
            <a:r>
              <a:rPr lang="en-US" sz="1000" dirty="0">
                <a:solidFill>
                  <a:srgbClr val="E8E4F0"/>
                </a:solidFill>
                <a:latin typeface="Calibri" pitchFamily="34" charset="0"/>
                <a:ea typeface="Calibri" pitchFamily="34" charset="-122"/>
                <a:cs typeface="Calibri" pitchFamily="34" charset="-120"/>
              </a:rPr>
              <a:t>D2C, clinics, support centres. Need demo before sales call. Underserved on the homepage.</a:t>
            </a:r>
            <a:endParaRPr lang="en-US" sz="1000" dirty="0"/>
          </a:p>
        </p:txBody>
      </p:sp>
      <p:sp>
        <p:nvSpPr>
          <p:cNvPr id="13" name="Shape 11"/>
          <p:cNvSpPr/>
          <p:nvPr/>
        </p:nvSpPr>
        <p:spPr>
          <a:xfrm>
            <a:off x="4754880" y="1143000"/>
            <a:ext cx="2084832" cy="1691640"/>
          </a:xfrm>
          <a:prstGeom prst="rect">
            <a:avLst/>
          </a:prstGeom>
          <a:solidFill>
            <a:srgbClr val="1A2B40"/>
          </a:solidFill>
          <a:ln w="12700">
            <a:solidFill>
              <a:srgbClr val="F5A623"/>
            </a:solidFill>
            <a:prstDash val="solid"/>
          </a:ln>
        </p:spPr>
      </p:sp>
      <p:sp>
        <p:nvSpPr>
          <p:cNvPr id="14" name="Text 12"/>
          <p:cNvSpPr/>
          <p:nvPr/>
        </p:nvSpPr>
        <p:spPr>
          <a:xfrm>
            <a:off x="4846320" y="1207008"/>
            <a:ext cx="1920240" cy="201168"/>
          </a:xfrm>
          <a:prstGeom prst="rect">
            <a:avLst/>
          </a:prstGeom>
          <a:noFill/>
          <a:ln/>
        </p:spPr>
        <p:txBody>
          <a:bodyPr wrap="square" lIns="0" tIns="0" rIns="0" bIns="0" rtlCol="0" anchor="ctr"/>
          <a:lstStyle/>
          <a:p>
            <a:pPr indent="0" marL="0">
              <a:buNone/>
            </a:pPr>
            <a:r>
              <a:rPr lang="en-US" sz="800" b="1" spc="100" kern="0" dirty="0">
                <a:solidFill>
                  <a:srgbClr val="F5A623"/>
                </a:solidFill>
                <a:latin typeface="Calibri" pitchFamily="34" charset="0"/>
                <a:ea typeface="Calibri" pitchFamily="34" charset="-122"/>
                <a:cs typeface="Calibri" pitchFamily="34" charset="-120"/>
              </a:rPr>
              <a:t>SECONDARY</a:t>
            </a:r>
            <a:endParaRPr lang="en-US" sz="800" dirty="0"/>
          </a:p>
        </p:txBody>
      </p:sp>
      <p:sp>
        <p:nvSpPr>
          <p:cNvPr id="15" name="Text 13"/>
          <p:cNvSpPr/>
          <p:nvPr/>
        </p:nvSpPr>
        <p:spPr>
          <a:xfrm>
            <a:off x="4846320" y="1417320"/>
            <a:ext cx="192024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Enterprise IT/CTO</a:t>
            </a:r>
            <a:endParaRPr lang="en-US" sz="1300" dirty="0"/>
          </a:p>
        </p:txBody>
      </p:sp>
      <p:sp>
        <p:nvSpPr>
          <p:cNvPr id="16" name="Text 14"/>
          <p:cNvSpPr/>
          <p:nvPr/>
        </p:nvSpPr>
        <p:spPr>
          <a:xfrm>
            <a:off x="4846320" y="1737360"/>
            <a:ext cx="1920240" cy="1005840"/>
          </a:xfrm>
          <a:prstGeom prst="rect">
            <a:avLst/>
          </a:prstGeom>
          <a:noFill/>
          <a:ln/>
        </p:spPr>
        <p:txBody>
          <a:bodyPr wrap="square" lIns="0" tIns="0" rIns="0" bIns="0" rtlCol="0" anchor="t"/>
          <a:lstStyle/>
          <a:p>
            <a:pPr indent="0" marL="0">
              <a:buNone/>
            </a:pPr>
            <a:r>
              <a:rPr lang="en-US" sz="1000" dirty="0">
                <a:solidFill>
                  <a:srgbClr val="E8E4F0"/>
                </a:solidFill>
                <a:latin typeface="Calibri" pitchFamily="34" charset="0"/>
                <a:ea typeface="Calibri" pitchFamily="34" charset="-122"/>
                <a:cs typeface="Calibri" pitchFamily="34" charset="-120"/>
              </a:rPr>
              <a:t>BFSI, BPOs. Long cycles. Need logos, case studies, security docs. Not visible on site.</a:t>
            </a:r>
            <a:endParaRPr lang="en-US" sz="1000" dirty="0"/>
          </a:p>
        </p:txBody>
      </p:sp>
      <p:sp>
        <p:nvSpPr>
          <p:cNvPr id="17" name="Shape 15"/>
          <p:cNvSpPr/>
          <p:nvPr/>
        </p:nvSpPr>
        <p:spPr>
          <a:xfrm>
            <a:off x="6949440" y="1143000"/>
            <a:ext cx="2084832" cy="1691640"/>
          </a:xfrm>
          <a:prstGeom prst="rect">
            <a:avLst/>
          </a:prstGeom>
          <a:solidFill>
            <a:srgbClr val="1A2B40"/>
          </a:solidFill>
          <a:ln w="12700">
            <a:solidFill>
              <a:srgbClr val="22C97A"/>
            </a:solidFill>
            <a:prstDash val="solid"/>
          </a:ln>
        </p:spPr>
      </p:sp>
      <p:sp>
        <p:nvSpPr>
          <p:cNvPr id="18" name="Text 16"/>
          <p:cNvSpPr/>
          <p:nvPr/>
        </p:nvSpPr>
        <p:spPr>
          <a:xfrm>
            <a:off x="7040880" y="1207008"/>
            <a:ext cx="1920240" cy="201168"/>
          </a:xfrm>
          <a:prstGeom prst="rect">
            <a:avLst/>
          </a:prstGeom>
          <a:noFill/>
          <a:ln/>
        </p:spPr>
        <p:txBody>
          <a:bodyPr wrap="square" lIns="0" tIns="0" rIns="0" bIns="0" rtlCol="0" anchor="ctr"/>
          <a:lstStyle/>
          <a:p>
            <a:pPr indent="0" marL="0">
              <a:buNone/>
            </a:pPr>
            <a:r>
              <a:rPr lang="en-US" sz="800" b="1" spc="100" kern="0" dirty="0">
                <a:solidFill>
                  <a:srgbClr val="22C97A"/>
                </a:solidFill>
                <a:latin typeface="Calibri" pitchFamily="34" charset="0"/>
                <a:ea typeface="Calibri" pitchFamily="34" charset="-122"/>
                <a:cs typeface="Calibri" pitchFamily="34" charset="-120"/>
              </a:rPr>
              <a:t>IGNORED</a:t>
            </a:r>
            <a:endParaRPr lang="en-US" sz="800" dirty="0"/>
          </a:p>
        </p:txBody>
      </p:sp>
      <p:sp>
        <p:nvSpPr>
          <p:cNvPr id="19" name="Text 17"/>
          <p:cNvSpPr/>
          <p:nvPr/>
        </p:nvSpPr>
        <p:spPr>
          <a:xfrm>
            <a:off x="7040880" y="1417320"/>
            <a:ext cx="192024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India Enterprises</a:t>
            </a:r>
            <a:endParaRPr lang="en-US" sz="1300" dirty="0"/>
          </a:p>
        </p:txBody>
      </p:sp>
      <p:sp>
        <p:nvSpPr>
          <p:cNvPr id="20" name="Text 18"/>
          <p:cNvSpPr/>
          <p:nvPr/>
        </p:nvSpPr>
        <p:spPr>
          <a:xfrm>
            <a:off x="7040880" y="1737360"/>
            <a:ext cx="1920240" cy="1005840"/>
          </a:xfrm>
          <a:prstGeom prst="rect">
            <a:avLst/>
          </a:prstGeom>
          <a:noFill/>
          <a:ln/>
        </p:spPr>
        <p:txBody>
          <a:bodyPr wrap="square" lIns="0" tIns="0" rIns="0" bIns="0" rtlCol="0" anchor="t"/>
          <a:lstStyle/>
          <a:p>
            <a:pPr indent="0" marL="0">
              <a:buNone/>
            </a:pPr>
            <a:r>
              <a:rPr lang="en-US" sz="1000" dirty="0">
                <a:solidFill>
                  <a:srgbClr val="E8E4F0"/>
                </a:solidFill>
                <a:latin typeface="Calibri" pitchFamily="34" charset="0"/>
                <a:ea typeface="Calibri" pitchFamily="34" charset="-122"/>
                <a:cs typeface="Calibri" pitchFamily="34" charset="-120"/>
              </a:rPr>
              <a:t>Hindi/Hinglish/Tamil use cases. ZERO competitors serve this. VocalLabs can own it.</a:t>
            </a:r>
            <a:endParaRPr lang="en-US" sz="1000" dirty="0"/>
          </a:p>
        </p:txBody>
      </p:sp>
      <p:sp>
        <p:nvSpPr>
          <p:cNvPr id="21" name="Text 19"/>
          <p:cNvSpPr/>
          <p:nvPr/>
        </p:nvSpPr>
        <p:spPr>
          <a:xfrm>
            <a:off x="365760" y="2944368"/>
            <a:ext cx="8229600" cy="256032"/>
          </a:xfrm>
          <a:prstGeom prst="rect">
            <a:avLst/>
          </a:prstGeom>
          <a:noFill/>
          <a:ln/>
        </p:spPr>
        <p:txBody>
          <a:bodyPr wrap="square" lIns="0" tIns="0" rIns="0" bIns="0" rtlCol="0" anchor="ctr"/>
          <a:lstStyle/>
          <a:p>
            <a:pPr indent="0" marL="0">
              <a:buNone/>
            </a:pPr>
            <a:r>
              <a:rPr lang="en-US" sz="900" b="1" spc="200" kern="0" dirty="0">
                <a:solidFill>
                  <a:srgbClr val="9B72FF"/>
                </a:solidFill>
                <a:latin typeface="Calibri" pitchFamily="34" charset="0"/>
                <a:ea typeface="Calibri" pitchFamily="34" charset="-122"/>
                <a:cs typeface="Calibri" pitchFamily="34" charset="-120"/>
              </a:rPr>
              <a:t>COMPETITOR BENCHMARK</a:t>
            </a:r>
            <a:endParaRPr lang="en-US" sz="900" dirty="0"/>
          </a:p>
        </p:txBody>
      </p:sp>
      <p:sp>
        <p:nvSpPr>
          <p:cNvPr id="22" name="Shape 20"/>
          <p:cNvSpPr/>
          <p:nvPr/>
        </p:nvSpPr>
        <p:spPr>
          <a:xfrm>
            <a:off x="365760" y="3246120"/>
            <a:ext cx="1737360" cy="274320"/>
          </a:xfrm>
          <a:prstGeom prst="rect">
            <a:avLst/>
          </a:prstGeom>
          <a:solidFill>
            <a:srgbClr val="1E1040"/>
          </a:solidFill>
          <a:ln w="6350">
            <a:solidFill>
              <a:srgbClr val="6C3FFF"/>
            </a:solidFill>
            <a:prstDash val="solid"/>
          </a:ln>
        </p:spPr>
      </p:sp>
      <p:sp>
        <p:nvSpPr>
          <p:cNvPr id="23" name="Text 21"/>
          <p:cNvSpPr/>
          <p:nvPr/>
        </p:nvSpPr>
        <p:spPr>
          <a:xfrm>
            <a:off x="411480" y="3264408"/>
            <a:ext cx="1645920" cy="237744"/>
          </a:xfrm>
          <a:prstGeom prst="rect">
            <a:avLst/>
          </a:prstGeom>
          <a:noFill/>
          <a:ln/>
        </p:spPr>
        <p:txBody>
          <a:bodyPr wrap="square" lIns="0" tIns="0" rIns="0" bIns="0" rtlCol="0" anchor="ctr"/>
          <a:lstStyle/>
          <a:p>
            <a:pPr indent="0" marL="0">
              <a:buNone/>
            </a:pPr>
            <a:endParaRPr lang="en-US" sz="900" dirty="0"/>
          </a:p>
        </p:txBody>
      </p:sp>
      <p:sp>
        <p:nvSpPr>
          <p:cNvPr id="24" name="Shape 22"/>
          <p:cNvSpPr/>
          <p:nvPr/>
        </p:nvSpPr>
        <p:spPr>
          <a:xfrm>
            <a:off x="2103120" y="3246120"/>
            <a:ext cx="1371600" cy="274320"/>
          </a:xfrm>
          <a:prstGeom prst="rect">
            <a:avLst/>
          </a:prstGeom>
          <a:solidFill>
            <a:srgbClr val="1E1040"/>
          </a:solidFill>
          <a:ln w="6350">
            <a:solidFill>
              <a:srgbClr val="6C3FFF"/>
            </a:solidFill>
            <a:prstDash val="solid"/>
          </a:ln>
        </p:spPr>
      </p:sp>
      <p:sp>
        <p:nvSpPr>
          <p:cNvPr id="25" name="Text 23"/>
          <p:cNvSpPr/>
          <p:nvPr/>
        </p:nvSpPr>
        <p:spPr>
          <a:xfrm>
            <a:off x="2148840" y="3264408"/>
            <a:ext cx="1280160" cy="237744"/>
          </a:xfrm>
          <a:prstGeom prst="rect">
            <a:avLst/>
          </a:prstGeom>
          <a:noFill/>
          <a:ln/>
        </p:spPr>
        <p:txBody>
          <a:bodyPr wrap="square" lIns="0" tIns="0" rIns="0" bIns="0" rtlCol="0" anchor="ctr"/>
          <a:lstStyle/>
          <a:p>
            <a:pPr indent="0" marL="0">
              <a:buNone/>
            </a:pPr>
            <a:r>
              <a:rPr lang="en-US" sz="900" b="1" dirty="0">
                <a:solidFill>
                  <a:srgbClr val="9B72FF"/>
                </a:solidFill>
                <a:latin typeface="Calibri" pitchFamily="34" charset="0"/>
                <a:ea typeface="Calibri" pitchFamily="34" charset="-122"/>
                <a:cs typeface="Calibri" pitchFamily="34" charset="-120"/>
              </a:rPr>
              <a:t>VocalLabs</a:t>
            </a:r>
            <a:endParaRPr lang="en-US" sz="900" dirty="0"/>
          </a:p>
        </p:txBody>
      </p:sp>
      <p:sp>
        <p:nvSpPr>
          <p:cNvPr id="26" name="Shape 24"/>
          <p:cNvSpPr/>
          <p:nvPr/>
        </p:nvSpPr>
        <p:spPr>
          <a:xfrm>
            <a:off x="3520440" y="3246120"/>
            <a:ext cx="1371600" cy="274320"/>
          </a:xfrm>
          <a:prstGeom prst="rect">
            <a:avLst/>
          </a:prstGeom>
          <a:solidFill>
            <a:srgbClr val="1E1040"/>
          </a:solidFill>
          <a:ln w="6350">
            <a:solidFill>
              <a:srgbClr val="6C3FFF"/>
            </a:solidFill>
            <a:prstDash val="solid"/>
          </a:ln>
        </p:spPr>
      </p:sp>
      <p:sp>
        <p:nvSpPr>
          <p:cNvPr id="27" name="Text 25"/>
          <p:cNvSpPr/>
          <p:nvPr/>
        </p:nvSpPr>
        <p:spPr>
          <a:xfrm>
            <a:off x="3566160" y="3264408"/>
            <a:ext cx="1280160" cy="237744"/>
          </a:xfrm>
          <a:prstGeom prst="rect">
            <a:avLst/>
          </a:prstGeom>
          <a:noFill/>
          <a:ln/>
        </p:spPr>
        <p:txBody>
          <a:bodyPr wrap="square" lIns="0" tIns="0" rIns="0" bIns="0" rtlCol="0" anchor="ctr"/>
          <a:lstStyle/>
          <a:p>
            <a:pPr indent="0" marL="0">
              <a:buNone/>
            </a:pPr>
            <a:r>
              <a:rPr lang="en-US" sz="900" b="1" dirty="0">
                <a:solidFill>
                  <a:srgbClr val="9B72FF"/>
                </a:solidFill>
                <a:latin typeface="Calibri" pitchFamily="34" charset="0"/>
                <a:ea typeface="Calibri" pitchFamily="34" charset="-122"/>
                <a:cs typeface="Calibri" pitchFamily="34" charset="-120"/>
              </a:rPr>
              <a:t>Retell AI</a:t>
            </a:r>
            <a:endParaRPr lang="en-US" sz="900" dirty="0"/>
          </a:p>
        </p:txBody>
      </p:sp>
      <p:sp>
        <p:nvSpPr>
          <p:cNvPr id="28" name="Shape 26"/>
          <p:cNvSpPr/>
          <p:nvPr/>
        </p:nvSpPr>
        <p:spPr>
          <a:xfrm>
            <a:off x="4937760" y="3246120"/>
            <a:ext cx="1371600" cy="274320"/>
          </a:xfrm>
          <a:prstGeom prst="rect">
            <a:avLst/>
          </a:prstGeom>
          <a:solidFill>
            <a:srgbClr val="1E1040"/>
          </a:solidFill>
          <a:ln w="6350">
            <a:solidFill>
              <a:srgbClr val="6C3FFF"/>
            </a:solidFill>
            <a:prstDash val="solid"/>
          </a:ln>
        </p:spPr>
      </p:sp>
      <p:sp>
        <p:nvSpPr>
          <p:cNvPr id="29" name="Text 27"/>
          <p:cNvSpPr/>
          <p:nvPr/>
        </p:nvSpPr>
        <p:spPr>
          <a:xfrm>
            <a:off x="4983480" y="3264408"/>
            <a:ext cx="1280160" cy="237744"/>
          </a:xfrm>
          <a:prstGeom prst="rect">
            <a:avLst/>
          </a:prstGeom>
          <a:noFill/>
          <a:ln/>
        </p:spPr>
        <p:txBody>
          <a:bodyPr wrap="square" lIns="0" tIns="0" rIns="0" bIns="0" rtlCol="0" anchor="ctr"/>
          <a:lstStyle/>
          <a:p>
            <a:pPr indent="0" marL="0">
              <a:buNone/>
            </a:pPr>
            <a:r>
              <a:rPr lang="en-US" sz="900" b="1" dirty="0">
                <a:solidFill>
                  <a:srgbClr val="9B72FF"/>
                </a:solidFill>
                <a:latin typeface="Calibri" pitchFamily="34" charset="0"/>
                <a:ea typeface="Calibri" pitchFamily="34" charset="-122"/>
                <a:cs typeface="Calibri" pitchFamily="34" charset="-120"/>
              </a:rPr>
              <a:t>Bland AI</a:t>
            </a:r>
            <a:endParaRPr lang="en-US" sz="900" dirty="0"/>
          </a:p>
        </p:txBody>
      </p:sp>
      <p:sp>
        <p:nvSpPr>
          <p:cNvPr id="30" name="Shape 28"/>
          <p:cNvSpPr/>
          <p:nvPr/>
        </p:nvSpPr>
        <p:spPr>
          <a:xfrm>
            <a:off x="6355080" y="3246120"/>
            <a:ext cx="1371600" cy="274320"/>
          </a:xfrm>
          <a:prstGeom prst="rect">
            <a:avLst/>
          </a:prstGeom>
          <a:solidFill>
            <a:srgbClr val="1E1040"/>
          </a:solidFill>
          <a:ln w="6350">
            <a:solidFill>
              <a:srgbClr val="6C3FFF"/>
            </a:solidFill>
            <a:prstDash val="solid"/>
          </a:ln>
        </p:spPr>
      </p:sp>
      <p:sp>
        <p:nvSpPr>
          <p:cNvPr id="31" name="Text 29"/>
          <p:cNvSpPr/>
          <p:nvPr/>
        </p:nvSpPr>
        <p:spPr>
          <a:xfrm>
            <a:off x="6400800" y="3264408"/>
            <a:ext cx="1280160" cy="237744"/>
          </a:xfrm>
          <a:prstGeom prst="rect">
            <a:avLst/>
          </a:prstGeom>
          <a:noFill/>
          <a:ln/>
        </p:spPr>
        <p:txBody>
          <a:bodyPr wrap="square" lIns="0" tIns="0" rIns="0" bIns="0" rtlCol="0" anchor="ctr"/>
          <a:lstStyle/>
          <a:p>
            <a:pPr indent="0" marL="0">
              <a:buNone/>
            </a:pPr>
            <a:r>
              <a:rPr lang="en-US" sz="900" b="1" dirty="0">
                <a:solidFill>
                  <a:srgbClr val="9B72FF"/>
                </a:solidFill>
                <a:latin typeface="Calibri" pitchFamily="34" charset="0"/>
                <a:ea typeface="Calibri" pitchFamily="34" charset="-122"/>
                <a:cs typeface="Calibri" pitchFamily="34" charset="-120"/>
              </a:rPr>
              <a:t>Vapi</a:t>
            </a:r>
            <a:endParaRPr lang="en-US" sz="900" dirty="0"/>
          </a:p>
        </p:txBody>
      </p:sp>
      <p:sp>
        <p:nvSpPr>
          <p:cNvPr id="32" name="Shape 30"/>
          <p:cNvSpPr/>
          <p:nvPr/>
        </p:nvSpPr>
        <p:spPr>
          <a:xfrm>
            <a:off x="7772400" y="3246120"/>
            <a:ext cx="1371600" cy="274320"/>
          </a:xfrm>
          <a:prstGeom prst="rect">
            <a:avLst/>
          </a:prstGeom>
          <a:solidFill>
            <a:srgbClr val="1E1040"/>
          </a:solidFill>
          <a:ln w="6350">
            <a:solidFill>
              <a:srgbClr val="6C3FFF"/>
            </a:solidFill>
            <a:prstDash val="solid"/>
          </a:ln>
        </p:spPr>
      </p:sp>
      <p:sp>
        <p:nvSpPr>
          <p:cNvPr id="33" name="Text 31"/>
          <p:cNvSpPr/>
          <p:nvPr/>
        </p:nvSpPr>
        <p:spPr>
          <a:xfrm>
            <a:off x="7818120" y="3264408"/>
            <a:ext cx="1280160" cy="237744"/>
          </a:xfrm>
          <a:prstGeom prst="rect">
            <a:avLst/>
          </a:prstGeom>
          <a:noFill/>
          <a:ln/>
        </p:spPr>
        <p:txBody>
          <a:bodyPr wrap="square" lIns="0" tIns="0" rIns="0" bIns="0" rtlCol="0" anchor="ctr"/>
          <a:lstStyle/>
          <a:p>
            <a:pPr indent="0" marL="0">
              <a:buNone/>
            </a:pPr>
            <a:r>
              <a:rPr lang="en-US" sz="900" b="1" dirty="0">
                <a:solidFill>
                  <a:srgbClr val="9B72FF"/>
                </a:solidFill>
                <a:latin typeface="Calibri" pitchFamily="34" charset="0"/>
                <a:ea typeface="Calibri" pitchFamily="34" charset="-122"/>
                <a:cs typeface="Calibri" pitchFamily="34" charset="-120"/>
              </a:rPr>
              <a:t>Synthflow</a:t>
            </a:r>
            <a:endParaRPr lang="en-US" sz="900" dirty="0"/>
          </a:p>
        </p:txBody>
      </p:sp>
      <p:sp>
        <p:nvSpPr>
          <p:cNvPr id="34" name="Shape 32"/>
          <p:cNvSpPr/>
          <p:nvPr/>
        </p:nvSpPr>
        <p:spPr>
          <a:xfrm>
            <a:off x="365760" y="3520440"/>
            <a:ext cx="1737360" cy="274320"/>
          </a:xfrm>
          <a:prstGeom prst="rect">
            <a:avLst/>
          </a:prstGeom>
          <a:solidFill>
            <a:srgbClr val="1A2B40"/>
          </a:solidFill>
          <a:ln w="3810">
            <a:solidFill>
              <a:srgbClr val="0D1B2A"/>
            </a:solidFill>
            <a:prstDash val="solid"/>
          </a:ln>
        </p:spPr>
      </p:sp>
      <p:sp>
        <p:nvSpPr>
          <p:cNvPr id="35" name="Text 33"/>
          <p:cNvSpPr/>
          <p:nvPr/>
        </p:nvSpPr>
        <p:spPr>
          <a:xfrm>
            <a:off x="411480" y="3557016"/>
            <a:ext cx="1645920" cy="201168"/>
          </a:xfrm>
          <a:prstGeom prst="rect">
            <a:avLst/>
          </a:prstGeom>
          <a:noFill/>
          <a:ln/>
        </p:spPr>
        <p:txBody>
          <a:bodyPr wrap="square" lIns="0" tIns="0" rIns="0" bIns="0" rtlCol="0" anchor="ctr"/>
          <a:lstStyle/>
          <a:p>
            <a:pPr indent="0" marL="0">
              <a:buNone/>
            </a:pPr>
            <a:r>
              <a:rPr lang="en-US" sz="950" dirty="0">
                <a:solidFill>
                  <a:srgbClr val="E8E4F0"/>
                </a:solidFill>
                <a:latin typeface="Calibri" pitchFamily="34" charset="0"/>
                <a:ea typeface="Calibri" pitchFamily="34" charset="-122"/>
                <a:cs typeface="Calibri" pitchFamily="34" charset="-120"/>
              </a:rPr>
              <a:t>Live demo / sandbox</a:t>
            </a:r>
            <a:endParaRPr lang="en-US" sz="950" dirty="0"/>
          </a:p>
        </p:txBody>
      </p:sp>
      <p:sp>
        <p:nvSpPr>
          <p:cNvPr id="36" name="Shape 34"/>
          <p:cNvSpPr/>
          <p:nvPr/>
        </p:nvSpPr>
        <p:spPr>
          <a:xfrm>
            <a:off x="2103120" y="3520440"/>
            <a:ext cx="1371600" cy="274320"/>
          </a:xfrm>
          <a:prstGeom prst="rect">
            <a:avLst/>
          </a:prstGeom>
          <a:solidFill>
            <a:srgbClr val="1E1040"/>
          </a:solidFill>
          <a:ln w="3810">
            <a:solidFill>
              <a:srgbClr val="6C3FFF"/>
            </a:solidFill>
            <a:prstDash val="solid"/>
          </a:ln>
        </p:spPr>
      </p:sp>
      <p:sp>
        <p:nvSpPr>
          <p:cNvPr id="37" name="Text 35"/>
          <p:cNvSpPr/>
          <p:nvPr/>
        </p:nvSpPr>
        <p:spPr>
          <a:xfrm>
            <a:off x="2148840" y="3557016"/>
            <a:ext cx="1280160" cy="201168"/>
          </a:xfrm>
          <a:prstGeom prst="rect">
            <a:avLst/>
          </a:prstGeom>
          <a:noFill/>
          <a:ln/>
        </p:spPr>
        <p:txBody>
          <a:bodyPr wrap="square" lIns="0" tIns="0" rIns="0" bIns="0" rtlCol="0" anchor="ctr"/>
          <a:lstStyle/>
          <a:p>
            <a:pPr indent="0" marL="0">
              <a:buNone/>
            </a:pPr>
            <a:r>
              <a:rPr lang="en-US" sz="950" dirty="0">
                <a:solidFill>
                  <a:srgbClr val="E8445A"/>
                </a:solidFill>
                <a:latin typeface="Calibri" pitchFamily="34" charset="0"/>
                <a:ea typeface="Calibri" pitchFamily="34" charset="-122"/>
                <a:cs typeface="Calibri" pitchFamily="34" charset="-120"/>
              </a:rPr>
              <a:t>✗ None</a:t>
            </a:r>
            <a:endParaRPr lang="en-US" sz="950" dirty="0"/>
          </a:p>
        </p:txBody>
      </p:sp>
      <p:sp>
        <p:nvSpPr>
          <p:cNvPr id="38" name="Shape 36"/>
          <p:cNvSpPr/>
          <p:nvPr/>
        </p:nvSpPr>
        <p:spPr>
          <a:xfrm>
            <a:off x="3520440" y="3520440"/>
            <a:ext cx="1371600" cy="274320"/>
          </a:xfrm>
          <a:prstGeom prst="rect">
            <a:avLst/>
          </a:prstGeom>
          <a:solidFill>
            <a:srgbClr val="1A2B40"/>
          </a:solidFill>
          <a:ln w="3810">
            <a:solidFill>
              <a:srgbClr val="0D1B2A"/>
            </a:solidFill>
            <a:prstDash val="solid"/>
          </a:ln>
        </p:spPr>
      </p:sp>
      <p:sp>
        <p:nvSpPr>
          <p:cNvPr id="39" name="Text 37"/>
          <p:cNvSpPr/>
          <p:nvPr/>
        </p:nvSpPr>
        <p:spPr>
          <a:xfrm>
            <a:off x="3566160" y="3557016"/>
            <a:ext cx="1280160" cy="201168"/>
          </a:xfrm>
          <a:prstGeom prst="rect">
            <a:avLst/>
          </a:prstGeom>
          <a:noFill/>
          <a:ln/>
        </p:spPr>
        <p:txBody>
          <a:bodyPr wrap="square" lIns="0" tIns="0" rIns="0" bIns="0" rtlCol="0" anchor="ctr"/>
          <a:lstStyle/>
          <a:p>
            <a:pPr indent="0" marL="0">
              <a:buNone/>
            </a:pPr>
            <a:r>
              <a:rPr lang="en-US" sz="950" dirty="0">
                <a:solidFill>
                  <a:srgbClr val="22C97A"/>
                </a:solidFill>
                <a:latin typeface="Calibri" pitchFamily="34" charset="0"/>
                <a:ea typeface="Calibri" pitchFamily="34" charset="-122"/>
                <a:cs typeface="Calibri" pitchFamily="34" charset="-120"/>
              </a:rPr>
              <a:t>✓ Browser call</a:t>
            </a:r>
            <a:endParaRPr lang="en-US" sz="950" dirty="0"/>
          </a:p>
        </p:txBody>
      </p:sp>
      <p:sp>
        <p:nvSpPr>
          <p:cNvPr id="40" name="Shape 38"/>
          <p:cNvSpPr/>
          <p:nvPr/>
        </p:nvSpPr>
        <p:spPr>
          <a:xfrm>
            <a:off x="4937760" y="3520440"/>
            <a:ext cx="1371600" cy="274320"/>
          </a:xfrm>
          <a:prstGeom prst="rect">
            <a:avLst/>
          </a:prstGeom>
          <a:solidFill>
            <a:srgbClr val="1A2B40"/>
          </a:solidFill>
          <a:ln w="3810">
            <a:solidFill>
              <a:srgbClr val="0D1B2A"/>
            </a:solidFill>
            <a:prstDash val="solid"/>
          </a:ln>
        </p:spPr>
      </p:sp>
      <p:sp>
        <p:nvSpPr>
          <p:cNvPr id="41" name="Text 39"/>
          <p:cNvSpPr/>
          <p:nvPr/>
        </p:nvSpPr>
        <p:spPr>
          <a:xfrm>
            <a:off x="4983480" y="3557016"/>
            <a:ext cx="1280160" cy="201168"/>
          </a:xfrm>
          <a:prstGeom prst="rect">
            <a:avLst/>
          </a:prstGeom>
          <a:noFill/>
          <a:ln/>
        </p:spPr>
        <p:txBody>
          <a:bodyPr wrap="square" lIns="0" tIns="0" rIns="0" bIns="0" rtlCol="0" anchor="ctr"/>
          <a:lstStyle/>
          <a:p>
            <a:pPr indent="0" marL="0">
              <a:buNone/>
            </a:pPr>
            <a:r>
              <a:rPr lang="en-US" sz="950" dirty="0">
                <a:solidFill>
                  <a:srgbClr val="22C97A"/>
                </a:solidFill>
                <a:latin typeface="Calibri" pitchFamily="34" charset="0"/>
                <a:ea typeface="Calibri" pitchFamily="34" charset="-122"/>
                <a:cs typeface="Calibri" pitchFamily="34" charset="-120"/>
              </a:rPr>
              <a:t>✓ Browser call</a:t>
            </a:r>
            <a:endParaRPr lang="en-US" sz="950" dirty="0"/>
          </a:p>
        </p:txBody>
      </p:sp>
      <p:sp>
        <p:nvSpPr>
          <p:cNvPr id="42" name="Shape 40"/>
          <p:cNvSpPr/>
          <p:nvPr/>
        </p:nvSpPr>
        <p:spPr>
          <a:xfrm>
            <a:off x="6355080" y="3520440"/>
            <a:ext cx="1371600" cy="274320"/>
          </a:xfrm>
          <a:prstGeom prst="rect">
            <a:avLst/>
          </a:prstGeom>
          <a:solidFill>
            <a:srgbClr val="1A2B40"/>
          </a:solidFill>
          <a:ln w="3810">
            <a:solidFill>
              <a:srgbClr val="0D1B2A"/>
            </a:solidFill>
            <a:prstDash val="solid"/>
          </a:ln>
        </p:spPr>
      </p:sp>
      <p:sp>
        <p:nvSpPr>
          <p:cNvPr id="43" name="Text 41"/>
          <p:cNvSpPr/>
          <p:nvPr/>
        </p:nvSpPr>
        <p:spPr>
          <a:xfrm>
            <a:off x="6400800" y="3557016"/>
            <a:ext cx="1280160" cy="201168"/>
          </a:xfrm>
          <a:prstGeom prst="rect">
            <a:avLst/>
          </a:prstGeom>
          <a:noFill/>
          <a:ln/>
        </p:spPr>
        <p:txBody>
          <a:bodyPr wrap="square" lIns="0" tIns="0" rIns="0" bIns="0" rtlCol="0" anchor="ctr"/>
          <a:lstStyle/>
          <a:p>
            <a:pPr indent="0" marL="0">
              <a:buNone/>
            </a:pPr>
            <a:r>
              <a:rPr lang="en-US" sz="950" dirty="0">
                <a:solidFill>
                  <a:srgbClr val="22C97A"/>
                </a:solidFill>
                <a:latin typeface="Calibri" pitchFamily="34" charset="0"/>
                <a:ea typeface="Calibri" pitchFamily="34" charset="-122"/>
                <a:cs typeface="Calibri" pitchFamily="34" charset="-120"/>
              </a:rPr>
              <a:t>✓ Browser call</a:t>
            </a:r>
            <a:endParaRPr lang="en-US" sz="950" dirty="0"/>
          </a:p>
        </p:txBody>
      </p:sp>
      <p:sp>
        <p:nvSpPr>
          <p:cNvPr id="44" name="Shape 42"/>
          <p:cNvSpPr/>
          <p:nvPr/>
        </p:nvSpPr>
        <p:spPr>
          <a:xfrm>
            <a:off x="7772400" y="3520440"/>
            <a:ext cx="1371600" cy="274320"/>
          </a:xfrm>
          <a:prstGeom prst="rect">
            <a:avLst/>
          </a:prstGeom>
          <a:solidFill>
            <a:srgbClr val="1A2B40"/>
          </a:solidFill>
          <a:ln w="3810">
            <a:solidFill>
              <a:srgbClr val="0D1B2A"/>
            </a:solidFill>
            <a:prstDash val="solid"/>
          </a:ln>
        </p:spPr>
      </p:sp>
      <p:sp>
        <p:nvSpPr>
          <p:cNvPr id="45" name="Text 43"/>
          <p:cNvSpPr/>
          <p:nvPr/>
        </p:nvSpPr>
        <p:spPr>
          <a:xfrm>
            <a:off x="7818120" y="3557016"/>
            <a:ext cx="1280160" cy="201168"/>
          </a:xfrm>
          <a:prstGeom prst="rect">
            <a:avLst/>
          </a:prstGeom>
          <a:noFill/>
          <a:ln/>
        </p:spPr>
        <p:txBody>
          <a:bodyPr wrap="square" lIns="0" tIns="0" rIns="0" bIns="0" rtlCol="0" anchor="ctr"/>
          <a:lstStyle/>
          <a:p>
            <a:pPr indent="0" marL="0">
              <a:buNone/>
            </a:pPr>
            <a:r>
              <a:rPr lang="en-US" sz="950" dirty="0">
                <a:solidFill>
                  <a:srgbClr val="E8E4F0"/>
                </a:solidFill>
                <a:latin typeface="Calibri" pitchFamily="34" charset="0"/>
                <a:ea typeface="Calibri" pitchFamily="34" charset="-122"/>
                <a:cs typeface="Calibri" pitchFamily="34" charset="-120"/>
              </a:rPr>
              <a:t>~ Form first</a:t>
            </a:r>
            <a:endParaRPr lang="en-US" sz="950" dirty="0"/>
          </a:p>
        </p:txBody>
      </p:sp>
      <p:sp>
        <p:nvSpPr>
          <p:cNvPr id="46" name="Shape 44"/>
          <p:cNvSpPr/>
          <p:nvPr/>
        </p:nvSpPr>
        <p:spPr>
          <a:xfrm>
            <a:off x="365760" y="3794760"/>
            <a:ext cx="1737360" cy="274320"/>
          </a:xfrm>
          <a:prstGeom prst="rect">
            <a:avLst/>
          </a:prstGeom>
          <a:solidFill>
            <a:srgbClr val="152336"/>
          </a:solidFill>
          <a:ln w="3810">
            <a:solidFill>
              <a:srgbClr val="0D1B2A"/>
            </a:solidFill>
            <a:prstDash val="solid"/>
          </a:ln>
        </p:spPr>
      </p:sp>
      <p:sp>
        <p:nvSpPr>
          <p:cNvPr id="47" name="Text 45"/>
          <p:cNvSpPr/>
          <p:nvPr/>
        </p:nvSpPr>
        <p:spPr>
          <a:xfrm>
            <a:off x="411480" y="3831336"/>
            <a:ext cx="1645920" cy="201168"/>
          </a:xfrm>
          <a:prstGeom prst="rect">
            <a:avLst/>
          </a:prstGeom>
          <a:noFill/>
          <a:ln/>
        </p:spPr>
        <p:txBody>
          <a:bodyPr wrap="square" lIns="0" tIns="0" rIns="0" bIns="0" rtlCol="0" anchor="ctr"/>
          <a:lstStyle/>
          <a:p>
            <a:pPr indent="0" marL="0">
              <a:buNone/>
            </a:pPr>
            <a:r>
              <a:rPr lang="en-US" sz="950" dirty="0">
                <a:solidFill>
                  <a:srgbClr val="E8E4F0"/>
                </a:solidFill>
                <a:latin typeface="Calibri" pitchFamily="34" charset="0"/>
                <a:ea typeface="Calibri" pitchFamily="34" charset="-122"/>
                <a:cs typeface="Calibri" pitchFamily="34" charset="-120"/>
              </a:rPr>
              <a:t>Onboarding speed</a:t>
            </a:r>
            <a:endParaRPr lang="en-US" sz="950" dirty="0"/>
          </a:p>
        </p:txBody>
      </p:sp>
      <p:sp>
        <p:nvSpPr>
          <p:cNvPr id="48" name="Shape 46"/>
          <p:cNvSpPr/>
          <p:nvPr/>
        </p:nvSpPr>
        <p:spPr>
          <a:xfrm>
            <a:off x="2103120" y="3794760"/>
            <a:ext cx="1371600" cy="274320"/>
          </a:xfrm>
          <a:prstGeom prst="rect">
            <a:avLst/>
          </a:prstGeom>
          <a:solidFill>
            <a:srgbClr val="1E1040"/>
          </a:solidFill>
          <a:ln w="3810">
            <a:solidFill>
              <a:srgbClr val="6C3FFF"/>
            </a:solidFill>
            <a:prstDash val="solid"/>
          </a:ln>
        </p:spPr>
      </p:sp>
      <p:sp>
        <p:nvSpPr>
          <p:cNvPr id="49" name="Text 47"/>
          <p:cNvSpPr/>
          <p:nvPr/>
        </p:nvSpPr>
        <p:spPr>
          <a:xfrm>
            <a:off x="2148840" y="3831336"/>
            <a:ext cx="1280160" cy="201168"/>
          </a:xfrm>
          <a:prstGeom prst="rect">
            <a:avLst/>
          </a:prstGeom>
          <a:noFill/>
          <a:ln/>
        </p:spPr>
        <p:txBody>
          <a:bodyPr wrap="square" lIns="0" tIns="0" rIns="0" bIns="0" rtlCol="0" anchor="ctr"/>
          <a:lstStyle/>
          <a:p>
            <a:pPr indent="0" marL="0">
              <a:buNone/>
            </a:pPr>
            <a:r>
              <a:rPr lang="en-US" sz="950" dirty="0">
                <a:solidFill>
                  <a:srgbClr val="E8445A"/>
                </a:solidFill>
                <a:latin typeface="Calibri" pitchFamily="34" charset="0"/>
                <a:ea typeface="Calibri" pitchFamily="34" charset="-122"/>
                <a:cs typeface="Calibri" pitchFamily="34" charset="-120"/>
              </a:rPr>
              <a:t>✗ Sales-led</a:t>
            </a:r>
            <a:endParaRPr lang="en-US" sz="950" dirty="0"/>
          </a:p>
        </p:txBody>
      </p:sp>
      <p:sp>
        <p:nvSpPr>
          <p:cNvPr id="50" name="Shape 48"/>
          <p:cNvSpPr/>
          <p:nvPr/>
        </p:nvSpPr>
        <p:spPr>
          <a:xfrm>
            <a:off x="3520440" y="3794760"/>
            <a:ext cx="1371600" cy="274320"/>
          </a:xfrm>
          <a:prstGeom prst="rect">
            <a:avLst/>
          </a:prstGeom>
          <a:solidFill>
            <a:srgbClr val="152336"/>
          </a:solidFill>
          <a:ln w="3810">
            <a:solidFill>
              <a:srgbClr val="0D1B2A"/>
            </a:solidFill>
            <a:prstDash val="solid"/>
          </a:ln>
        </p:spPr>
      </p:sp>
      <p:sp>
        <p:nvSpPr>
          <p:cNvPr id="51" name="Text 49"/>
          <p:cNvSpPr/>
          <p:nvPr/>
        </p:nvSpPr>
        <p:spPr>
          <a:xfrm>
            <a:off x="3566160" y="3831336"/>
            <a:ext cx="1280160" cy="201168"/>
          </a:xfrm>
          <a:prstGeom prst="rect">
            <a:avLst/>
          </a:prstGeom>
          <a:noFill/>
          <a:ln/>
        </p:spPr>
        <p:txBody>
          <a:bodyPr wrap="square" lIns="0" tIns="0" rIns="0" bIns="0" rtlCol="0" anchor="ctr"/>
          <a:lstStyle/>
          <a:p>
            <a:pPr indent="0" marL="0">
              <a:buNone/>
            </a:pPr>
            <a:r>
              <a:rPr lang="en-US" sz="950" dirty="0">
                <a:solidFill>
                  <a:srgbClr val="22C97A"/>
                </a:solidFill>
                <a:latin typeface="Calibri" pitchFamily="34" charset="0"/>
                <a:ea typeface="Calibri" pitchFamily="34" charset="-122"/>
                <a:cs typeface="Calibri" pitchFamily="34" charset="-120"/>
              </a:rPr>
              <a:t>✓ Instant</a:t>
            </a:r>
            <a:endParaRPr lang="en-US" sz="950" dirty="0"/>
          </a:p>
        </p:txBody>
      </p:sp>
      <p:sp>
        <p:nvSpPr>
          <p:cNvPr id="52" name="Shape 50"/>
          <p:cNvSpPr/>
          <p:nvPr/>
        </p:nvSpPr>
        <p:spPr>
          <a:xfrm>
            <a:off x="4937760" y="3794760"/>
            <a:ext cx="1371600" cy="274320"/>
          </a:xfrm>
          <a:prstGeom prst="rect">
            <a:avLst/>
          </a:prstGeom>
          <a:solidFill>
            <a:srgbClr val="152336"/>
          </a:solidFill>
          <a:ln w="3810">
            <a:solidFill>
              <a:srgbClr val="0D1B2A"/>
            </a:solidFill>
            <a:prstDash val="solid"/>
          </a:ln>
        </p:spPr>
      </p:sp>
      <p:sp>
        <p:nvSpPr>
          <p:cNvPr id="53" name="Text 51"/>
          <p:cNvSpPr/>
          <p:nvPr/>
        </p:nvSpPr>
        <p:spPr>
          <a:xfrm>
            <a:off x="4983480" y="3831336"/>
            <a:ext cx="1280160" cy="201168"/>
          </a:xfrm>
          <a:prstGeom prst="rect">
            <a:avLst/>
          </a:prstGeom>
          <a:noFill/>
          <a:ln/>
        </p:spPr>
        <p:txBody>
          <a:bodyPr wrap="square" lIns="0" tIns="0" rIns="0" bIns="0" rtlCol="0" anchor="ctr"/>
          <a:lstStyle/>
          <a:p>
            <a:pPr indent="0" marL="0">
              <a:buNone/>
            </a:pPr>
            <a:r>
              <a:rPr lang="en-US" sz="950" dirty="0">
                <a:solidFill>
                  <a:srgbClr val="22C97A"/>
                </a:solidFill>
                <a:latin typeface="Calibri" pitchFamily="34" charset="0"/>
                <a:ea typeface="Calibri" pitchFamily="34" charset="-122"/>
                <a:cs typeface="Calibri" pitchFamily="34" charset="-120"/>
              </a:rPr>
              <a:t>✓ Instant</a:t>
            </a:r>
            <a:endParaRPr lang="en-US" sz="950" dirty="0"/>
          </a:p>
        </p:txBody>
      </p:sp>
      <p:sp>
        <p:nvSpPr>
          <p:cNvPr id="54" name="Shape 52"/>
          <p:cNvSpPr/>
          <p:nvPr/>
        </p:nvSpPr>
        <p:spPr>
          <a:xfrm>
            <a:off x="6355080" y="3794760"/>
            <a:ext cx="1371600" cy="274320"/>
          </a:xfrm>
          <a:prstGeom prst="rect">
            <a:avLst/>
          </a:prstGeom>
          <a:solidFill>
            <a:srgbClr val="152336"/>
          </a:solidFill>
          <a:ln w="3810">
            <a:solidFill>
              <a:srgbClr val="0D1B2A"/>
            </a:solidFill>
            <a:prstDash val="solid"/>
          </a:ln>
        </p:spPr>
      </p:sp>
      <p:sp>
        <p:nvSpPr>
          <p:cNvPr id="55" name="Text 53"/>
          <p:cNvSpPr/>
          <p:nvPr/>
        </p:nvSpPr>
        <p:spPr>
          <a:xfrm>
            <a:off x="6400800" y="3831336"/>
            <a:ext cx="1280160" cy="201168"/>
          </a:xfrm>
          <a:prstGeom prst="rect">
            <a:avLst/>
          </a:prstGeom>
          <a:noFill/>
          <a:ln/>
        </p:spPr>
        <p:txBody>
          <a:bodyPr wrap="square" lIns="0" tIns="0" rIns="0" bIns="0" rtlCol="0" anchor="ctr"/>
          <a:lstStyle/>
          <a:p>
            <a:pPr indent="0" marL="0">
              <a:buNone/>
            </a:pPr>
            <a:r>
              <a:rPr lang="en-US" sz="950" dirty="0">
                <a:solidFill>
                  <a:srgbClr val="22C97A"/>
                </a:solidFill>
                <a:latin typeface="Calibri" pitchFamily="34" charset="0"/>
                <a:ea typeface="Calibri" pitchFamily="34" charset="-122"/>
                <a:cs typeface="Calibri" pitchFamily="34" charset="-120"/>
              </a:rPr>
              <a:t>✓ Instant</a:t>
            </a:r>
            <a:endParaRPr lang="en-US" sz="950" dirty="0"/>
          </a:p>
        </p:txBody>
      </p:sp>
      <p:sp>
        <p:nvSpPr>
          <p:cNvPr id="56" name="Shape 54"/>
          <p:cNvSpPr/>
          <p:nvPr/>
        </p:nvSpPr>
        <p:spPr>
          <a:xfrm>
            <a:off x="7772400" y="3794760"/>
            <a:ext cx="1371600" cy="274320"/>
          </a:xfrm>
          <a:prstGeom prst="rect">
            <a:avLst/>
          </a:prstGeom>
          <a:solidFill>
            <a:srgbClr val="152336"/>
          </a:solidFill>
          <a:ln w="3810">
            <a:solidFill>
              <a:srgbClr val="0D1B2A"/>
            </a:solidFill>
            <a:prstDash val="solid"/>
          </a:ln>
        </p:spPr>
      </p:sp>
      <p:sp>
        <p:nvSpPr>
          <p:cNvPr id="57" name="Text 55"/>
          <p:cNvSpPr/>
          <p:nvPr/>
        </p:nvSpPr>
        <p:spPr>
          <a:xfrm>
            <a:off x="7818120" y="3831336"/>
            <a:ext cx="1280160" cy="201168"/>
          </a:xfrm>
          <a:prstGeom prst="rect">
            <a:avLst/>
          </a:prstGeom>
          <a:noFill/>
          <a:ln/>
        </p:spPr>
        <p:txBody>
          <a:bodyPr wrap="square" lIns="0" tIns="0" rIns="0" bIns="0" rtlCol="0" anchor="ctr"/>
          <a:lstStyle/>
          <a:p>
            <a:pPr indent="0" marL="0">
              <a:buNone/>
            </a:pPr>
            <a:r>
              <a:rPr lang="en-US" sz="950" dirty="0">
                <a:solidFill>
                  <a:srgbClr val="E8E4F0"/>
                </a:solidFill>
                <a:latin typeface="Calibri" pitchFamily="34" charset="0"/>
                <a:ea typeface="Calibri" pitchFamily="34" charset="-122"/>
                <a:cs typeface="Calibri" pitchFamily="34" charset="-120"/>
              </a:rPr>
              <a:t>~ Slow</a:t>
            </a:r>
            <a:endParaRPr lang="en-US" sz="950" dirty="0"/>
          </a:p>
        </p:txBody>
      </p:sp>
      <p:sp>
        <p:nvSpPr>
          <p:cNvPr id="58" name="Shape 56"/>
          <p:cNvSpPr/>
          <p:nvPr/>
        </p:nvSpPr>
        <p:spPr>
          <a:xfrm>
            <a:off x="365760" y="4069080"/>
            <a:ext cx="1737360" cy="274320"/>
          </a:xfrm>
          <a:prstGeom prst="rect">
            <a:avLst/>
          </a:prstGeom>
          <a:solidFill>
            <a:srgbClr val="1A2B40"/>
          </a:solidFill>
          <a:ln w="3810">
            <a:solidFill>
              <a:srgbClr val="0D1B2A"/>
            </a:solidFill>
            <a:prstDash val="solid"/>
          </a:ln>
        </p:spPr>
      </p:sp>
      <p:sp>
        <p:nvSpPr>
          <p:cNvPr id="59" name="Text 57"/>
          <p:cNvSpPr/>
          <p:nvPr/>
        </p:nvSpPr>
        <p:spPr>
          <a:xfrm>
            <a:off x="411480" y="4105656"/>
            <a:ext cx="1645920" cy="201168"/>
          </a:xfrm>
          <a:prstGeom prst="rect">
            <a:avLst/>
          </a:prstGeom>
          <a:noFill/>
          <a:ln/>
        </p:spPr>
        <p:txBody>
          <a:bodyPr wrap="square" lIns="0" tIns="0" rIns="0" bIns="0" rtlCol="0" anchor="ctr"/>
          <a:lstStyle/>
          <a:p>
            <a:pPr indent="0" marL="0">
              <a:buNone/>
            </a:pPr>
            <a:r>
              <a:rPr lang="en-US" sz="950" dirty="0">
                <a:solidFill>
                  <a:srgbClr val="E8E4F0"/>
                </a:solidFill>
                <a:latin typeface="Calibri" pitchFamily="34" charset="0"/>
                <a:ea typeface="Calibri" pitchFamily="34" charset="-122"/>
                <a:cs typeface="Calibri" pitchFamily="34" charset="-120"/>
              </a:rPr>
              <a:t>Trust signals</a:t>
            </a:r>
            <a:endParaRPr lang="en-US" sz="950" dirty="0"/>
          </a:p>
        </p:txBody>
      </p:sp>
      <p:sp>
        <p:nvSpPr>
          <p:cNvPr id="60" name="Shape 58"/>
          <p:cNvSpPr/>
          <p:nvPr/>
        </p:nvSpPr>
        <p:spPr>
          <a:xfrm>
            <a:off x="2103120" y="4069080"/>
            <a:ext cx="1371600" cy="274320"/>
          </a:xfrm>
          <a:prstGeom prst="rect">
            <a:avLst/>
          </a:prstGeom>
          <a:solidFill>
            <a:srgbClr val="1E1040"/>
          </a:solidFill>
          <a:ln w="3810">
            <a:solidFill>
              <a:srgbClr val="6C3FFF"/>
            </a:solidFill>
            <a:prstDash val="solid"/>
          </a:ln>
        </p:spPr>
      </p:sp>
      <p:sp>
        <p:nvSpPr>
          <p:cNvPr id="61" name="Text 59"/>
          <p:cNvSpPr/>
          <p:nvPr/>
        </p:nvSpPr>
        <p:spPr>
          <a:xfrm>
            <a:off x="2148840" y="4105656"/>
            <a:ext cx="1280160" cy="201168"/>
          </a:xfrm>
          <a:prstGeom prst="rect">
            <a:avLst/>
          </a:prstGeom>
          <a:noFill/>
          <a:ln/>
        </p:spPr>
        <p:txBody>
          <a:bodyPr wrap="square" lIns="0" tIns="0" rIns="0" bIns="0" rtlCol="0" anchor="ctr"/>
          <a:lstStyle/>
          <a:p>
            <a:pPr indent="0" marL="0">
              <a:buNone/>
            </a:pPr>
            <a:r>
              <a:rPr lang="en-US" sz="950" dirty="0">
                <a:solidFill>
                  <a:srgbClr val="E8445A"/>
                </a:solidFill>
                <a:latin typeface="Calibri" pitchFamily="34" charset="0"/>
                <a:ea typeface="Calibri" pitchFamily="34" charset="-122"/>
                <a:cs typeface="Calibri" pitchFamily="34" charset="-120"/>
              </a:rPr>
              <a:t>✗ No logos</a:t>
            </a:r>
            <a:endParaRPr lang="en-US" sz="950" dirty="0"/>
          </a:p>
        </p:txBody>
      </p:sp>
      <p:sp>
        <p:nvSpPr>
          <p:cNvPr id="62" name="Shape 60"/>
          <p:cNvSpPr/>
          <p:nvPr/>
        </p:nvSpPr>
        <p:spPr>
          <a:xfrm>
            <a:off x="3520440" y="4069080"/>
            <a:ext cx="1371600" cy="274320"/>
          </a:xfrm>
          <a:prstGeom prst="rect">
            <a:avLst/>
          </a:prstGeom>
          <a:solidFill>
            <a:srgbClr val="1A2B40"/>
          </a:solidFill>
          <a:ln w="3810">
            <a:solidFill>
              <a:srgbClr val="0D1B2A"/>
            </a:solidFill>
            <a:prstDash val="solid"/>
          </a:ln>
        </p:spPr>
      </p:sp>
      <p:sp>
        <p:nvSpPr>
          <p:cNvPr id="63" name="Text 61"/>
          <p:cNvSpPr/>
          <p:nvPr/>
        </p:nvSpPr>
        <p:spPr>
          <a:xfrm>
            <a:off x="3566160" y="4105656"/>
            <a:ext cx="1280160" cy="201168"/>
          </a:xfrm>
          <a:prstGeom prst="rect">
            <a:avLst/>
          </a:prstGeom>
          <a:noFill/>
          <a:ln/>
        </p:spPr>
        <p:txBody>
          <a:bodyPr wrap="square" lIns="0" tIns="0" rIns="0" bIns="0" rtlCol="0" anchor="ctr"/>
          <a:lstStyle/>
          <a:p>
            <a:pPr indent="0" marL="0">
              <a:buNone/>
            </a:pPr>
            <a:r>
              <a:rPr lang="en-US" sz="950" dirty="0">
                <a:solidFill>
                  <a:srgbClr val="22C97A"/>
                </a:solidFill>
                <a:latin typeface="Calibri" pitchFamily="34" charset="0"/>
                <a:ea typeface="Calibri" pitchFamily="34" charset="-122"/>
                <a:cs typeface="Calibri" pitchFamily="34" charset="-120"/>
              </a:rPr>
              <a:t>✓ Visible</a:t>
            </a:r>
            <a:endParaRPr lang="en-US" sz="950" dirty="0"/>
          </a:p>
        </p:txBody>
      </p:sp>
      <p:sp>
        <p:nvSpPr>
          <p:cNvPr id="64" name="Shape 62"/>
          <p:cNvSpPr/>
          <p:nvPr/>
        </p:nvSpPr>
        <p:spPr>
          <a:xfrm>
            <a:off x="4937760" y="4069080"/>
            <a:ext cx="1371600" cy="274320"/>
          </a:xfrm>
          <a:prstGeom prst="rect">
            <a:avLst/>
          </a:prstGeom>
          <a:solidFill>
            <a:srgbClr val="1A2B40"/>
          </a:solidFill>
          <a:ln w="3810">
            <a:solidFill>
              <a:srgbClr val="0D1B2A"/>
            </a:solidFill>
            <a:prstDash val="solid"/>
          </a:ln>
        </p:spPr>
      </p:sp>
      <p:sp>
        <p:nvSpPr>
          <p:cNvPr id="65" name="Text 63"/>
          <p:cNvSpPr/>
          <p:nvPr/>
        </p:nvSpPr>
        <p:spPr>
          <a:xfrm>
            <a:off x="4983480" y="4105656"/>
            <a:ext cx="1280160" cy="201168"/>
          </a:xfrm>
          <a:prstGeom prst="rect">
            <a:avLst/>
          </a:prstGeom>
          <a:noFill/>
          <a:ln/>
        </p:spPr>
        <p:txBody>
          <a:bodyPr wrap="square" lIns="0" tIns="0" rIns="0" bIns="0" rtlCol="0" anchor="ctr"/>
          <a:lstStyle/>
          <a:p>
            <a:pPr indent="0" marL="0">
              <a:buNone/>
            </a:pPr>
            <a:r>
              <a:rPr lang="en-US" sz="950" dirty="0">
                <a:solidFill>
                  <a:srgbClr val="E8E4F0"/>
                </a:solidFill>
                <a:latin typeface="Calibri" pitchFamily="34" charset="0"/>
                <a:ea typeface="Calibri" pitchFamily="34" charset="-122"/>
                <a:cs typeface="Calibri" pitchFamily="34" charset="-120"/>
              </a:rPr>
              <a:t>~ Call stats</a:t>
            </a:r>
            <a:endParaRPr lang="en-US" sz="950" dirty="0"/>
          </a:p>
        </p:txBody>
      </p:sp>
      <p:sp>
        <p:nvSpPr>
          <p:cNvPr id="66" name="Shape 64"/>
          <p:cNvSpPr/>
          <p:nvPr/>
        </p:nvSpPr>
        <p:spPr>
          <a:xfrm>
            <a:off x="6355080" y="4069080"/>
            <a:ext cx="1371600" cy="274320"/>
          </a:xfrm>
          <a:prstGeom prst="rect">
            <a:avLst/>
          </a:prstGeom>
          <a:solidFill>
            <a:srgbClr val="1A2B40"/>
          </a:solidFill>
          <a:ln w="3810">
            <a:solidFill>
              <a:srgbClr val="0D1B2A"/>
            </a:solidFill>
            <a:prstDash val="solid"/>
          </a:ln>
        </p:spPr>
      </p:sp>
      <p:sp>
        <p:nvSpPr>
          <p:cNvPr id="67" name="Text 65"/>
          <p:cNvSpPr/>
          <p:nvPr/>
        </p:nvSpPr>
        <p:spPr>
          <a:xfrm>
            <a:off x="6400800" y="4105656"/>
            <a:ext cx="1280160" cy="201168"/>
          </a:xfrm>
          <a:prstGeom prst="rect">
            <a:avLst/>
          </a:prstGeom>
          <a:noFill/>
          <a:ln/>
        </p:spPr>
        <p:txBody>
          <a:bodyPr wrap="square" lIns="0" tIns="0" rIns="0" bIns="0" rtlCol="0" anchor="ctr"/>
          <a:lstStyle/>
          <a:p>
            <a:pPr indent="0" marL="0">
              <a:buNone/>
            </a:pPr>
            <a:r>
              <a:rPr lang="en-US" sz="950" dirty="0">
                <a:solidFill>
                  <a:srgbClr val="22C97A"/>
                </a:solidFill>
                <a:latin typeface="Calibri" pitchFamily="34" charset="0"/>
                <a:ea typeface="Calibri" pitchFamily="34" charset="-122"/>
                <a:cs typeface="Calibri" pitchFamily="34" charset="-120"/>
              </a:rPr>
              <a:t>✓ Strong</a:t>
            </a:r>
            <a:endParaRPr lang="en-US" sz="950" dirty="0"/>
          </a:p>
        </p:txBody>
      </p:sp>
      <p:sp>
        <p:nvSpPr>
          <p:cNvPr id="68" name="Shape 66"/>
          <p:cNvSpPr/>
          <p:nvPr/>
        </p:nvSpPr>
        <p:spPr>
          <a:xfrm>
            <a:off x="7772400" y="4069080"/>
            <a:ext cx="1371600" cy="274320"/>
          </a:xfrm>
          <a:prstGeom prst="rect">
            <a:avLst/>
          </a:prstGeom>
          <a:solidFill>
            <a:srgbClr val="1A2B40"/>
          </a:solidFill>
          <a:ln w="3810">
            <a:solidFill>
              <a:srgbClr val="0D1B2A"/>
            </a:solidFill>
            <a:prstDash val="solid"/>
          </a:ln>
        </p:spPr>
      </p:sp>
      <p:sp>
        <p:nvSpPr>
          <p:cNvPr id="69" name="Text 67"/>
          <p:cNvSpPr/>
          <p:nvPr/>
        </p:nvSpPr>
        <p:spPr>
          <a:xfrm>
            <a:off x="7818120" y="4105656"/>
            <a:ext cx="1280160" cy="201168"/>
          </a:xfrm>
          <a:prstGeom prst="rect">
            <a:avLst/>
          </a:prstGeom>
          <a:noFill/>
          <a:ln/>
        </p:spPr>
        <p:txBody>
          <a:bodyPr wrap="square" lIns="0" tIns="0" rIns="0" bIns="0" rtlCol="0" anchor="ctr"/>
          <a:lstStyle/>
          <a:p>
            <a:pPr indent="0" marL="0">
              <a:buNone/>
            </a:pPr>
            <a:r>
              <a:rPr lang="en-US" sz="950" dirty="0">
                <a:solidFill>
                  <a:srgbClr val="E8E4F0"/>
                </a:solidFill>
                <a:latin typeface="Calibri" pitchFamily="34" charset="0"/>
                <a:ea typeface="Calibri" pitchFamily="34" charset="-122"/>
                <a:cs typeface="Calibri" pitchFamily="34" charset="-120"/>
              </a:rPr>
              <a:t>~ Some</a:t>
            </a:r>
            <a:endParaRPr lang="en-US" sz="950" dirty="0"/>
          </a:p>
        </p:txBody>
      </p:sp>
      <p:sp>
        <p:nvSpPr>
          <p:cNvPr id="70" name="Shape 68"/>
          <p:cNvSpPr/>
          <p:nvPr/>
        </p:nvSpPr>
        <p:spPr>
          <a:xfrm>
            <a:off x="365760" y="4343400"/>
            <a:ext cx="1737360" cy="274320"/>
          </a:xfrm>
          <a:prstGeom prst="rect">
            <a:avLst/>
          </a:prstGeom>
          <a:solidFill>
            <a:srgbClr val="152336"/>
          </a:solidFill>
          <a:ln w="3810">
            <a:solidFill>
              <a:srgbClr val="0D1B2A"/>
            </a:solidFill>
            <a:prstDash val="solid"/>
          </a:ln>
        </p:spPr>
      </p:sp>
      <p:sp>
        <p:nvSpPr>
          <p:cNvPr id="71" name="Text 69"/>
          <p:cNvSpPr/>
          <p:nvPr/>
        </p:nvSpPr>
        <p:spPr>
          <a:xfrm>
            <a:off x="411480" y="4379976"/>
            <a:ext cx="1645920" cy="201168"/>
          </a:xfrm>
          <a:prstGeom prst="rect">
            <a:avLst/>
          </a:prstGeom>
          <a:noFill/>
          <a:ln/>
        </p:spPr>
        <p:txBody>
          <a:bodyPr wrap="square" lIns="0" tIns="0" rIns="0" bIns="0" rtlCol="0" anchor="ctr"/>
          <a:lstStyle/>
          <a:p>
            <a:pPr indent="0" marL="0">
              <a:buNone/>
            </a:pPr>
            <a:r>
              <a:rPr lang="en-US" sz="950" dirty="0">
                <a:solidFill>
                  <a:srgbClr val="E8E4F0"/>
                </a:solidFill>
                <a:latin typeface="Calibri" pitchFamily="34" charset="0"/>
                <a:ea typeface="Calibri" pitchFamily="34" charset="-122"/>
                <a:cs typeface="Calibri" pitchFamily="34" charset="-120"/>
              </a:rPr>
              <a:t>India / multilingual</a:t>
            </a:r>
            <a:endParaRPr lang="en-US" sz="950" dirty="0"/>
          </a:p>
        </p:txBody>
      </p:sp>
      <p:sp>
        <p:nvSpPr>
          <p:cNvPr id="72" name="Shape 70"/>
          <p:cNvSpPr/>
          <p:nvPr/>
        </p:nvSpPr>
        <p:spPr>
          <a:xfrm>
            <a:off x="2103120" y="4343400"/>
            <a:ext cx="1371600" cy="274320"/>
          </a:xfrm>
          <a:prstGeom prst="rect">
            <a:avLst/>
          </a:prstGeom>
          <a:solidFill>
            <a:srgbClr val="1E1040"/>
          </a:solidFill>
          <a:ln w="3810">
            <a:solidFill>
              <a:srgbClr val="6C3FFF"/>
            </a:solidFill>
            <a:prstDash val="solid"/>
          </a:ln>
        </p:spPr>
      </p:sp>
      <p:sp>
        <p:nvSpPr>
          <p:cNvPr id="73" name="Text 71"/>
          <p:cNvSpPr/>
          <p:nvPr/>
        </p:nvSpPr>
        <p:spPr>
          <a:xfrm>
            <a:off x="2148840" y="4379976"/>
            <a:ext cx="1280160" cy="201168"/>
          </a:xfrm>
          <a:prstGeom prst="rect">
            <a:avLst/>
          </a:prstGeom>
          <a:noFill/>
          <a:ln/>
        </p:spPr>
        <p:txBody>
          <a:bodyPr wrap="square" lIns="0" tIns="0" rIns="0" bIns="0" rtlCol="0" anchor="ctr"/>
          <a:lstStyle/>
          <a:p>
            <a:pPr indent="0" marL="0">
              <a:buNone/>
            </a:pPr>
            <a:r>
              <a:rPr lang="en-US" sz="950" dirty="0">
                <a:solidFill>
                  <a:srgbClr val="22C97A"/>
                </a:solidFill>
                <a:latin typeface="Calibri" pitchFamily="34" charset="0"/>
                <a:ea typeface="Calibri" pitchFamily="34" charset="-122"/>
                <a:cs typeface="Calibri" pitchFamily="34" charset="-120"/>
              </a:rPr>
              <a:t>✓ Best-in-class</a:t>
            </a:r>
            <a:endParaRPr lang="en-US" sz="950" dirty="0"/>
          </a:p>
        </p:txBody>
      </p:sp>
      <p:sp>
        <p:nvSpPr>
          <p:cNvPr id="74" name="Shape 72"/>
          <p:cNvSpPr/>
          <p:nvPr/>
        </p:nvSpPr>
        <p:spPr>
          <a:xfrm>
            <a:off x="3520440" y="4343400"/>
            <a:ext cx="1371600" cy="274320"/>
          </a:xfrm>
          <a:prstGeom prst="rect">
            <a:avLst/>
          </a:prstGeom>
          <a:solidFill>
            <a:srgbClr val="152336"/>
          </a:solidFill>
          <a:ln w="3810">
            <a:solidFill>
              <a:srgbClr val="0D1B2A"/>
            </a:solidFill>
            <a:prstDash val="solid"/>
          </a:ln>
        </p:spPr>
      </p:sp>
      <p:sp>
        <p:nvSpPr>
          <p:cNvPr id="75" name="Text 73"/>
          <p:cNvSpPr/>
          <p:nvPr/>
        </p:nvSpPr>
        <p:spPr>
          <a:xfrm>
            <a:off x="3566160" y="4379976"/>
            <a:ext cx="1280160" cy="201168"/>
          </a:xfrm>
          <a:prstGeom prst="rect">
            <a:avLst/>
          </a:prstGeom>
          <a:noFill/>
          <a:ln/>
        </p:spPr>
        <p:txBody>
          <a:bodyPr wrap="square" lIns="0" tIns="0" rIns="0" bIns="0" rtlCol="0" anchor="ctr"/>
          <a:lstStyle/>
          <a:p>
            <a:pPr indent="0" marL="0">
              <a:buNone/>
            </a:pPr>
            <a:r>
              <a:rPr lang="en-US" sz="950" dirty="0">
                <a:solidFill>
                  <a:srgbClr val="E8445A"/>
                </a:solidFill>
                <a:latin typeface="Calibri" pitchFamily="34" charset="0"/>
                <a:ea typeface="Calibri" pitchFamily="34" charset="-122"/>
                <a:cs typeface="Calibri" pitchFamily="34" charset="-120"/>
              </a:rPr>
              <a:t>✗ US only</a:t>
            </a:r>
            <a:endParaRPr lang="en-US" sz="950" dirty="0"/>
          </a:p>
        </p:txBody>
      </p:sp>
      <p:sp>
        <p:nvSpPr>
          <p:cNvPr id="76" name="Shape 74"/>
          <p:cNvSpPr/>
          <p:nvPr/>
        </p:nvSpPr>
        <p:spPr>
          <a:xfrm>
            <a:off x="4937760" y="4343400"/>
            <a:ext cx="1371600" cy="274320"/>
          </a:xfrm>
          <a:prstGeom prst="rect">
            <a:avLst/>
          </a:prstGeom>
          <a:solidFill>
            <a:srgbClr val="152336"/>
          </a:solidFill>
          <a:ln w="3810">
            <a:solidFill>
              <a:srgbClr val="0D1B2A"/>
            </a:solidFill>
            <a:prstDash val="solid"/>
          </a:ln>
        </p:spPr>
      </p:sp>
      <p:sp>
        <p:nvSpPr>
          <p:cNvPr id="77" name="Text 75"/>
          <p:cNvSpPr/>
          <p:nvPr/>
        </p:nvSpPr>
        <p:spPr>
          <a:xfrm>
            <a:off x="4983480" y="4379976"/>
            <a:ext cx="1280160" cy="201168"/>
          </a:xfrm>
          <a:prstGeom prst="rect">
            <a:avLst/>
          </a:prstGeom>
          <a:noFill/>
          <a:ln/>
        </p:spPr>
        <p:txBody>
          <a:bodyPr wrap="square" lIns="0" tIns="0" rIns="0" bIns="0" rtlCol="0" anchor="ctr"/>
          <a:lstStyle/>
          <a:p>
            <a:pPr indent="0" marL="0">
              <a:buNone/>
            </a:pPr>
            <a:r>
              <a:rPr lang="en-US" sz="950" dirty="0">
                <a:solidFill>
                  <a:srgbClr val="E8445A"/>
                </a:solidFill>
                <a:latin typeface="Calibri" pitchFamily="34" charset="0"/>
                <a:ea typeface="Calibri" pitchFamily="34" charset="-122"/>
                <a:cs typeface="Calibri" pitchFamily="34" charset="-120"/>
              </a:rPr>
              <a:t>✗ US only</a:t>
            </a:r>
            <a:endParaRPr lang="en-US" sz="950" dirty="0"/>
          </a:p>
        </p:txBody>
      </p:sp>
      <p:sp>
        <p:nvSpPr>
          <p:cNvPr id="78" name="Shape 76"/>
          <p:cNvSpPr/>
          <p:nvPr/>
        </p:nvSpPr>
        <p:spPr>
          <a:xfrm>
            <a:off x="6355080" y="4343400"/>
            <a:ext cx="1371600" cy="274320"/>
          </a:xfrm>
          <a:prstGeom prst="rect">
            <a:avLst/>
          </a:prstGeom>
          <a:solidFill>
            <a:srgbClr val="152336"/>
          </a:solidFill>
          <a:ln w="3810">
            <a:solidFill>
              <a:srgbClr val="0D1B2A"/>
            </a:solidFill>
            <a:prstDash val="solid"/>
          </a:ln>
        </p:spPr>
      </p:sp>
      <p:sp>
        <p:nvSpPr>
          <p:cNvPr id="79" name="Text 77"/>
          <p:cNvSpPr/>
          <p:nvPr/>
        </p:nvSpPr>
        <p:spPr>
          <a:xfrm>
            <a:off x="6400800" y="4379976"/>
            <a:ext cx="1280160" cy="201168"/>
          </a:xfrm>
          <a:prstGeom prst="rect">
            <a:avLst/>
          </a:prstGeom>
          <a:noFill/>
          <a:ln/>
        </p:spPr>
        <p:txBody>
          <a:bodyPr wrap="square" lIns="0" tIns="0" rIns="0" bIns="0" rtlCol="0" anchor="ctr"/>
          <a:lstStyle/>
          <a:p>
            <a:pPr indent="0" marL="0">
              <a:buNone/>
            </a:pPr>
            <a:r>
              <a:rPr lang="en-US" sz="950" dirty="0">
                <a:solidFill>
                  <a:srgbClr val="E8445A"/>
                </a:solidFill>
                <a:latin typeface="Calibri" pitchFamily="34" charset="0"/>
                <a:ea typeface="Calibri" pitchFamily="34" charset="-122"/>
                <a:cs typeface="Calibri" pitchFamily="34" charset="-120"/>
              </a:rPr>
              <a:t>✗ US only</a:t>
            </a:r>
            <a:endParaRPr lang="en-US" sz="950" dirty="0"/>
          </a:p>
        </p:txBody>
      </p:sp>
      <p:sp>
        <p:nvSpPr>
          <p:cNvPr id="80" name="Shape 78"/>
          <p:cNvSpPr/>
          <p:nvPr/>
        </p:nvSpPr>
        <p:spPr>
          <a:xfrm>
            <a:off x="7772400" y="4343400"/>
            <a:ext cx="1371600" cy="274320"/>
          </a:xfrm>
          <a:prstGeom prst="rect">
            <a:avLst/>
          </a:prstGeom>
          <a:solidFill>
            <a:srgbClr val="152336"/>
          </a:solidFill>
          <a:ln w="3810">
            <a:solidFill>
              <a:srgbClr val="0D1B2A"/>
            </a:solidFill>
            <a:prstDash val="solid"/>
          </a:ln>
        </p:spPr>
      </p:sp>
      <p:sp>
        <p:nvSpPr>
          <p:cNvPr id="81" name="Text 79"/>
          <p:cNvSpPr/>
          <p:nvPr/>
        </p:nvSpPr>
        <p:spPr>
          <a:xfrm>
            <a:off x="7818120" y="4379976"/>
            <a:ext cx="1280160" cy="201168"/>
          </a:xfrm>
          <a:prstGeom prst="rect">
            <a:avLst/>
          </a:prstGeom>
          <a:noFill/>
          <a:ln/>
        </p:spPr>
        <p:txBody>
          <a:bodyPr wrap="square" lIns="0" tIns="0" rIns="0" bIns="0" rtlCol="0" anchor="ctr"/>
          <a:lstStyle/>
          <a:p>
            <a:pPr indent="0" marL="0">
              <a:buNone/>
            </a:pPr>
            <a:r>
              <a:rPr lang="en-US" sz="950" dirty="0">
                <a:solidFill>
                  <a:srgbClr val="E8445A"/>
                </a:solidFill>
                <a:latin typeface="Calibri" pitchFamily="34" charset="0"/>
                <a:ea typeface="Calibri" pitchFamily="34" charset="-122"/>
                <a:cs typeface="Calibri" pitchFamily="34" charset="-120"/>
              </a:rPr>
              <a:t>✗ EU focus</a:t>
            </a:r>
            <a:endParaRPr lang="en-US" sz="950" dirty="0"/>
          </a:p>
        </p:txBody>
      </p:sp>
      <p:sp>
        <p:nvSpPr>
          <p:cNvPr id="82" name="Shape 80"/>
          <p:cNvSpPr/>
          <p:nvPr/>
        </p:nvSpPr>
        <p:spPr>
          <a:xfrm>
            <a:off x="365760" y="4617720"/>
            <a:ext cx="1737360" cy="274320"/>
          </a:xfrm>
          <a:prstGeom prst="rect">
            <a:avLst/>
          </a:prstGeom>
          <a:solidFill>
            <a:srgbClr val="1A2B40"/>
          </a:solidFill>
          <a:ln w="3810">
            <a:solidFill>
              <a:srgbClr val="0D1B2A"/>
            </a:solidFill>
            <a:prstDash val="solid"/>
          </a:ln>
        </p:spPr>
      </p:sp>
      <p:sp>
        <p:nvSpPr>
          <p:cNvPr id="83" name="Text 81"/>
          <p:cNvSpPr/>
          <p:nvPr/>
        </p:nvSpPr>
        <p:spPr>
          <a:xfrm>
            <a:off x="411480" y="4654296"/>
            <a:ext cx="1645920" cy="201168"/>
          </a:xfrm>
          <a:prstGeom prst="rect">
            <a:avLst/>
          </a:prstGeom>
          <a:noFill/>
          <a:ln/>
        </p:spPr>
        <p:txBody>
          <a:bodyPr wrap="square" lIns="0" tIns="0" rIns="0" bIns="0" rtlCol="0" anchor="ctr"/>
          <a:lstStyle/>
          <a:p>
            <a:pPr indent="0" marL="0">
              <a:buNone/>
            </a:pPr>
            <a:r>
              <a:rPr lang="en-US" sz="950" dirty="0">
                <a:solidFill>
                  <a:srgbClr val="E8E4F0"/>
                </a:solidFill>
                <a:latin typeface="Calibri" pitchFamily="34" charset="0"/>
                <a:ea typeface="Calibri" pitchFamily="34" charset="-122"/>
                <a:cs typeface="Calibri" pitchFamily="34" charset="-120"/>
              </a:rPr>
              <a:t>Infra depth</a:t>
            </a:r>
            <a:endParaRPr lang="en-US" sz="950" dirty="0"/>
          </a:p>
        </p:txBody>
      </p:sp>
      <p:sp>
        <p:nvSpPr>
          <p:cNvPr id="84" name="Shape 82"/>
          <p:cNvSpPr/>
          <p:nvPr/>
        </p:nvSpPr>
        <p:spPr>
          <a:xfrm>
            <a:off x="2103120" y="4617720"/>
            <a:ext cx="1371600" cy="274320"/>
          </a:xfrm>
          <a:prstGeom prst="rect">
            <a:avLst/>
          </a:prstGeom>
          <a:solidFill>
            <a:srgbClr val="1E1040"/>
          </a:solidFill>
          <a:ln w="3810">
            <a:solidFill>
              <a:srgbClr val="6C3FFF"/>
            </a:solidFill>
            <a:prstDash val="solid"/>
          </a:ln>
        </p:spPr>
      </p:sp>
      <p:sp>
        <p:nvSpPr>
          <p:cNvPr id="85" name="Text 83"/>
          <p:cNvSpPr/>
          <p:nvPr/>
        </p:nvSpPr>
        <p:spPr>
          <a:xfrm>
            <a:off x="2148840" y="4654296"/>
            <a:ext cx="1280160" cy="201168"/>
          </a:xfrm>
          <a:prstGeom prst="rect">
            <a:avLst/>
          </a:prstGeom>
          <a:noFill/>
          <a:ln/>
        </p:spPr>
        <p:txBody>
          <a:bodyPr wrap="square" lIns="0" tIns="0" rIns="0" bIns="0" rtlCol="0" anchor="ctr"/>
          <a:lstStyle/>
          <a:p>
            <a:pPr indent="0" marL="0">
              <a:buNone/>
            </a:pPr>
            <a:r>
              <a:rPr lang="en-US" sz="950" dirty="0">
                <a:solidFill>
                  <a:srgbClr val="22C97A"/>
                </a:solidFill>
                <a:latin typeface="Calibri" pitchFamily="34" charset="0"/>
                <a:ea typeface="Calibri" pitchFamily="34" charset="-122"/>
                <a:cs typeface="Calibri" pitchFamily="34" charset="-120"/>
              </a:rPr>
              <a:t>✓ Full-stack</a:t>
            </a:r>
            <a:endParaRPr lang="en-US" sz="950" dirty="0"/>
          </a:p>
        </p:txBody>
      </p:sp>
      <p:sp>
        <p:nvSpPr>
          <p:cNvPr id="86" name="Shape 84"/>
          <p:cNvSpPr/>
          <p:nvPr/>
        </p:nvSpPr>
        <p:spPr>
          <a:xfrm>
            <a:off x="3520440" y="4617720"/>
            <a:ext cx="1371600" cy="274320"/>
          </a:xfrm>
          <a:prstGeom prst="rect">
            <a:avLst/>
          </a:prstGeom>
          <a:solidFill>
            <a:srgbClr val="1A2B40"/>
          </a:solidFill>
          <a:ln w="3810">
            <a:solidFill>
              <a:srgbClr val="0D1B2A"/>
            </a:solidFill>
            <a:prstDash val="solid"/>
          </a:ln>
        </p:spPr>
      </p:sp>
      <p:sp>
        <p:nvSpPr>
          <p:cNvPr id="87" name="Text 85"/>
          <p:cNvSpPr/>
          <p:nvPr/>
        </p:nvSpPr>
        <p:spPr>
          <a:xfrm>
            <a:off x="3566160" y="4654296"/>
            <a:ext cx="1280160" cy="201168"/>
          </a:xfrm>
          <a:prstGeom prst="rect">
            <a:avLst/>
          </a:prstGeom>
          <a:noFill/>
          <a:ln/>
        </p:spPr>
        <p:txBody>
          <a:bodyPr wrap="square" lIns="0" tIns="0" rIns="0" bIns="0" rtlCol="0" anchor="ctr"/>
          <a:lstStyle/>
          <a:p>
            <a:pPr indent="0" marL="0">
              <a:buNone/>
            </a:pPr>
            <a:r>
              <a:rPr lang="en-US" sz="950" dirty="0">
                <a:solidFill>
                  <a:srgbClr val="E8E4F0"/>
                </a:solidFill>
                <a:latin typeface="Calibri" pitchFamily="34" charset="0"/>
                <a:ea typeface="Calibri" pitchFamily="34" charset="-122"/>
                <a:cs typeface="Calibri" pitchFamily="34" charset="-120"/>
              </a:rPr>
              <a:t>~ Managed</a:t>
            </a:r>
            <a:endParaRPr lang="en-US" sz="950" dirty="0"/>
          </a:p>
        </p:txBody>
      </p:sp>
      <p:sp>
        <p:nvSpPr>
          <p:cNvPr id="88" name="Shape 86"/>
          <p:cNvSpPr/>
          <p:nvPr/>
        </p:nvSpPr>
        <p:spPr>
          <a:xfrm>
            <a:off x="4937760" y="4617720"/>
            <a:ext cx="1371600" cy="274320"/>
          </a:xfrm>
          <a:prstGeom prst="rect">
            <a:avLst/>
          </a:prstGeom>
          <a:solidFill>
            <a:srgbClr val="1A2B40"/>
          </a:solidFill>
          <a:ln w="3810">
            <a:solidFill>
              <a:srgbClr val="0D1B2A"/>
            </a:solidFill>
            <a:prstDash val="solid"/>
          </a:ln>
        </p:spPr>
      </p:sp>
      <p:sp>
        <p:nvSpPr>
          <p:cNvPr id="89" name="Text 87"/>
          <p:cNvSpPr/>
          <p:nvPr/>
        </p:nvSpPr>
        <p:spPr>
          <a:xfrm>
            <a:off x="4983480" y="4654296"/>
            <a:ext cx="1280160" cy="201168"/>
          </a:xfrm>
          <a:prstGeom prst="rect">
            <a:avLst/>
          </a:prstGeom>
          <a:noFill/>
          <a:ln/>
        </p:spPr>
        <p:txBody>
          <a:bodyPr wrap="square" lIns="0" tIns="0" rIns="0" bIns="0" rtlCol="0" anchor="ctr"/>
          <a:lstStyle/>
          <a:p>
            <a:pPr indent="0" marL="0">
              <a:buNone/>
            </a:pPr>
            <a:r>
              <a:rPr lang="en-US" sz="950" dirty="0">
                <a:solidFill>
                  <a:srgbClr val="E8E4F0"/>
                </a:solidFill>
                <a:latin typeface="Calibri" pitchFamily="34" charset="0"/>
                <a:ea typeface="Calibri" pitchFamily="34" charset="-122"/>
                <a:cs typeface="Calibri" pitchFamily="34" charset="-120"/>
              </a:rPr>
              <a:t>~ Managed</a:t>
            </a:r>
            <a:endParaRPr lang="en-US" sz="950" dirty="0"/>
          </a:p>
        </p:txBody>
      </p:sp>
      <p:sp>
        <p:nvSpPr>
          <p:cNvPr id="90" name="Shape 88"/>
          <p:cNvSpPr/>
          <p:nvPr/>
        </p:nvSpPr>
        <p:spPr>
          <a:xfrm>
            <a:off x="6355080" y="4617720"/>
            <a:ext cx="1371600" cy="274320"/>
          </a:xfrm>
          <a:prstGeom prst="rect">
            <a:avLst/>
          </a:prstGeom>
          <a:solidFill>
            <a:srgbClr val="1A2B40"/>
          </a:solidFill>
          <a:ln w="3810">
            <a:solidFill>
              <a:srgbClr val="0D1B2A"/>
            </a:solidFill>
            <a:prstDash val="solid"/>
          </a:ln>
        </p:spPr>
      </p:sp>
      <p:sp>
        <p:nvSpPr>
          <p:cNvPr id="91" name="Text 89"/>
          <p:cNvSpPr/>
          <p:nvPr/>
        </p:nvSpPr>
        <p:spPr>
          <a:xfrm>
            <a:off x="6400800" y="4654296"/>
            <a:ext cx="1280160" cy="201168"/>
          </a:xfrm>
          <a:prstGeom prst="rect">
            <a:avLst/>
          </a:prstGeom>
          <a:noFill/>
          <a:ln/>
        </p:spPr>
        <p:txBody>
          <a:bodyPr wrap="square" lIns="0" tIns="0" rIns="0" bIns="0" rtlCol="0" anchor="ctr"/>
          <a:lstStyle/>
          <a:p>
            <a:pPr indent="0" marL="0">
              <a:buNone/>
            </a:pPr>
            <a:r>
              <a:rPr lang="en-US" sz="950" dirty="0">
                <a:solidFill>
                  <a:srgbClr val="E8E4F0"/>
                </a:solidFill>
                <a:latin typeface="Calibri" pitchFamily="34" charset="0"/>
                <a:ea typeface="Calibri" pitchFamily="34" charset="-122"/>
                <a:cs typeface="Calibri" pitchFamily="34" charset="-120"/>
              </a:rPr>
              <a:t>~ Managed</a:t>
            </a:r>
            <a:endParaRPr lang="en-US" sz="950" dirty="0"/>
          </a:p>
        </p:txBody>
      </p:sp>
      <p:sp>
        <p:nvSpPr>
          <p:cNvPr id="92" name="Shape 90"/>
          <p:cNvSpPr/>
          <p:nvPr/>
        </p:nvSpPr>
        <p:spPr>
          <a:xfrm>
            <a:off x="7772400" y="4617720"/>
            <a:ext cx="1371600" cy="274320"/>
          </a:xfrm>
          <a:prstGeom prst="rect">
            <a:avLst/>
          </a:prstGeom>
          <a:solidFill>
            <a:srgbClr val="1A2B40"/>
          </a:solidFill>
          <a:ln w="3810">
            <a:solidFill>
              <a:srgbClr val="0D1B2A"/>
            </a:solidFill>
            <a:prstDash val="solid"/>
          </a:ln>
        </p:spPr>
      </p:sp>
      <p:sp>
        <p:nvSpPr>
          <p:cNvPr id="93" name="Text 91"/>
          <p:cNvSpPr/>
          <p:nvPr/>
        </p:nvSpPr>
        <p:spPr>
          <a:xfrm>
            <a:off x="7818120" y="4654296"/>
            <a:ext cx="1280160" cy="201168"/>
          </a:xfrm>
          <a:prstGeom prst="rect">
            <a:avLst/>
          </a:prstGeom>
          <a:noFill/>
          <a:ln/>
        </p:spPr>
        <p:txBody>
          <a:bodyPr wrap="square" lIns="0" tIns="0" rIns="0" bIns="0" rtlCol="0" anchor="ctr"/>
          <a:lstStyle/>
          <a:p>
            <a:pPr indent="0" marL="0">
              <a:buNone/>
            </a:pPr>
            <a:r>
              <a:rPr lang="en-US" sz="950" dirty="0">
                <a:solidFill>
                  <a:srgbClr val="E8E4F0"/>
                </a:solidFill>
                <a:latin typeface="Calibri" pitchFamily="34" charset="0"/>
                <a:ea typeface="Calibri" pitchFamily="34" charset="-122"/>
                <a:cs typeface="Calibri" pitchFamily="34" charset="-120"/>
              </a:rPr>
              <a:t>~ Managed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3FFF"/>
          </a:solidFill>
          <a:ln w="12700">
            <a:solidFill>
              <a:srgbClr val="6C3FFF"/>
            </a:solidFill>
            <a:prstDash val="solid"/>
          </a:ln>
        </p:spPr>
      </p:sp>
      <p:sp>
        <p:nvSpPr>
          <p:cNvPr id="3" name="Text 1"/>
          <p:cNvSpPr/>
          <p:nvPr/>
        </p:nvSpPr>
        <p:spPr>
          <a:xfrm>
            <a:off x="365760" y="228600"/>
            <a:ext cx="640080" cy="347472"/>
          </a:xfrm>
          <a:prstGeom prst="rect">
            <a:avLst/>
          </a:prstGeom>
          <a:noFill/>
          <a:ln/>
        </p:spPr>
        <p:txBody>
          <a:bodyPr wrap="square" lIns="0" tIns="0" rIns="0" bIns="0" rtlCol="0" anchor="ctr"/>
          <a:lstStyle/>
          <a:p>
            <a:pPr indent="0" marL="0">
              <a:buNone/>
            </a:pPr>
            <a:r>
              <a:rPr lang="en-US" sz="1100" b="1" dirty="0">
                <a:solidFill>
                  <a:srgbClr val="6C3FFF"/>
                </a:solidFill>
                <a:latin typeface="Calibri" pitchFamily="34" charset="0"/>
                <a:ea typeface="Calibri" pitchFamily="34" charset="-122"/>
                <a:cs typeface="Calibri" pitchFamily="34" charset="-120"/>
              </a:rPr>
              <a:t>04</a:t>
            </a:r>
            <a:endParaRPr lang="en-US" sz="1100" dirty="0"/>
          </a:p>
        </p:txBody>
      </p:sp>
      <p:sp>
        <p:nvSpPr>
          <p:cNvPr id="4" name="Shape 2"/>
          <p:cNvSpPr/>
          <p:nvPr/>
        </p:nvSpPr>
        <p:spPr>
          <a:xfrm>
            <a:off x="822960" y="256032"/>
            <a:ext cx="1554480" cy="274320"/>
          </a:xfrm>
          <a:prstGeom prst="rect">
            <a:avLst/>
          </a:prstGeom>
          <a:solidFill>
            <a:srgbClr val="1E1040"/>
          </a:solidFill>
          <a:ln w="9525">
            <a:solidFill>
              <a:srgbClr val="6C3FFF"/>
            </a:solidFill>
            <a:prstDash val="solid"/>
          </a:ln>
        </p:spPr>
      </p:sp>
      <p:sp>
        <p:nvSpPr>
          <p:cNvPr id="5" name="Text 3"/>
          <p:cNvSpPr/>
          <p:nvPr/>
        </p:nvSpPr>
        <p:spPr>
          <a:xfrm>
            <a:off x="868680" y="274320"/>
            <a:ext cx="1463040" cy="237744"/>
          </a:xfrm>
          <a:prstGeom prst="rect">
            <a:avLst/>
          </a:prstGeom>
          <a:noFill/>
          <a:ln/>
        </p:spPr>
        <p:txBody>
          <a:bodyPr wrap="square" lIns="0" tIns="0" rIns="0" bIns="0" rtlCol="0" anchor="ctr"/>
          <a:lstStyle/>
          <a:p>
            <a:pPr indent="0" marL="0">
              <a:buNone/>
            </a:pPr>
            <a:r>
              <a:rPr lang="en-US" sz="800" b="1" spc="100" kern="0" dirty="0">
                <a:solidFill>
                  <a:srgbClr val="9B72FF"/>
                </a:solidFill>
                <a:latin typeface="Calibri" pitchFamily="34" charset="0"/>
                <a:ea typeface="Calibri" pitchFamily="34" charset="-122"/>
                <a:cs typeface="Calibri" pitchFamily="34" charset="-120"/>
              </a:rPr>
              <a:t>GTM · POSITIONING</a:t>
            </a:r>
            <a:endParaRPr lang="en-US" sz="800" dirty="0"/>
          </a:p>
        </p:txBody>
      </p:sp>
      <p:sp>
        <p:nvSpPr>
          <p:cNvPr id="6" name="Text 4"/>
          <p:cNvSpPr/>
          <p:nvPr/>
        </p:nvSpPr>
        <p:spPr>
          <a:xfrm>
            <a:off x="365760" y="566928"/>
            <a:ext cx="8412480" cy="59436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Hero CTA contradicts hero headline — killing developer sign-ups</a:t>
            </a:r>
            <a:endParaRPr lang="en-US" sz="1900" dirty="0"/>
          </a:p>
        </p:txBody>
      </p:sp>
      <p:sp>
        <p:nvSpPr>
          <p:cNvPr id="7" name="Shape 5"/>
          <p:cNvSpPr/>
          <p:nvPr/>
        </p:nvSpPr>
        <p:spPr>
          <a:xfrm>
            <a:off x="365760" y="1261872"/>
            <a:ext cx="2816352" cy="3017520"/>
          </a:xfrm>
          <a:prstGeom prst="rect">
            <a:avLst/>
          </a:prstGeom>
          <a:solidFill>
            <a:srgbClr val="1A2B40"/>
          </a:solidFill>
          <a:ln w="12700">
            <a:solidFill>
              <a:srgbClr val="F5A623"/>
            </a:solidFill>
            <a:prstDash val="solid"/>
          </a:ln>
        </p:spPr>
      </p:sp>
      <p:sp>
        <p:nvSpPr>
          <p:cNvPr id="8" name="Shape 6"/>
          <p:cNvSpPr/>
          <p:nvPr/>
        </p:nvSpPr>
        <p:spPr>
          <a:xfrm>
            <a:off x="365760" y="1261872"/>
            <a:ext cx="2816352" cy="237744"/>
          </a:xfrm>
          <a:prstGeom prst="rect">
            <a:avLst/>
          </a:prstGeom>
          <a:solidFill>
            <a:srgbClr val="F5A623"/>
          </a:solidFill>
          <a:ln w="12700">
            <a:solidFill>
              <a:srgbClr val="F5A623"/>
            </a:solidFill>
            <a:prstDash val="solid"/>
          </a:ln>
        </p:spPr>
      </p:sp>
      <p:sp>
        <p:nvSpPr>
          <p:cNvPr id="9" name="Text 7"/>
          <p:cNvSpPr/>
          <p:nvPr/>
        </p:nvSpPr>
        <p:spPr>
          <a:xfrm>
            <a:off x="457200" y="1271016"/>
            <a:ext cx="2651760" cy="219456"/>
          </a:xfrm>
          <a:prstGeom prst="rect">
            <a:avLst/>
          </a:prstGeom>
          <a:noFill/>
          <a:ln/>
        </p:spPr>
        <p:txBody>
          <a:bodyPr wrap="square" lIns="0" tIns="0" rIns="0" bIns="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(a) Observed</a:t>
            </a:r>
            <a:endParaRPr lang="en-US" sz="850" dirty="0"/>
          </a:p>
        </p:txBody>
      </p:sp>
      <p:sp>
        <p:nvSpPr>
          <p:cNvPr id="10" name="Text 8"/>
          <p:cNvSpPr/>
          <p:nvPr/>
        </p:nvSpPr>
        <p:spPr>
          <a:xfrm>
            <a:off x="457200" y="1554480"/>
            <a:ext cx="2651760" cy="2651760"/>
          </a:xfrm>
          <a:prstGeom prst="rect">
            <a:avLst/>
          </a:prstGeom>
          <a:noFill/>
          <a:ln/>
        </p:spPr>
        <p:txBody>
          <a:bodyPr wrap="square" lIns="0" tIns="0" rIns="0" bIns="0" rtlCol="0" anchor="t"/>
          <a:lstStyle/>
          <a:p>
            <a:pPr indent="0" marL="0">
              <a:buNone/>
            </a:pPr>
            <a:r>
              <a:rPr lang="en-US" sz="1100" dirty="0">
                <a:solidFill>
                  <a:srgbClr val="E8E4F0"/>
                </a:solidFill>
                <a:latin typeface="Calibri" pitchFamily="34" charset="0"/>
                <a:ea typeface="Calibri" pitchFamily="34" charset="-122"/>
                <a:cs typeface="Calibri" pitchFamily="34" charset="-120"/>
              </a:rPr>
              <a:t>Screenshot shows "Deploy and Scale Voice AI" + "for developers" as headline — then the sole CTA is "Talk to an Expert" (phone icon). A second page says "Future of Enterprise Voice AI." Developers and enterprise buyers see opposite messages from the same nav.</a:t>
            </a:r>
            <a:endParaRPr lang="en-US" sz="1100" dirty="0"/>
          </a:p>
        </p:txBody>
      </p:sp>
      <p:sp>
        <p:nvSpPr>
          <p:cNvPr id="11" name="Shape 9"/>
          <p:cNvSpPr/>
          <p:nvPr/>
        </p:nvSpPr>
        <p:spPr>
          <a:xfrm>
            <a:off x="3310128" y="1261872"/>
            <a:ext cx="2816352" cy="3017520"/>
          </a:xfrm>
          <a:prstGeom prst="rect">
            <a:avLst/>
          </a:prstGeom>
          <a:solidFill>
            <a:srgbClr val="1A2B40"/>
          </a:solidFill>
          <a:ln w="12700">
            <a:solidFill>
              <a:srgbClr val="E8445A"/>
            </a:solidFill>
            <a:prstDash val="solid"/>
          </a:ln>
        </p:spPr>
      </p:sp>
      <p:sp>
        <p:nvSpPr>
          <p:cNvPr id="12" name="Shape 10"/>
          <p:cNvSpPr/>
          <p:nvPr/>
        </p:nvSpPr>
        <p:spPr>
          <a:xfrm>
            <a:off x="3310128" y="1261872"/>
            <a:ext cx="2816352" cy="237744"/>
          </a:xfrm>
          <a:prstGeom prst="rect">
            <a:avLst/>
          </a:prstGeom>
          <a:solidFill>
            <a:srgbClr val="E8445A"/>
          </a:solidFill>
          <a:ln w="12700">
            <a:solidFill>
              <a:srgbClr val="E8445A"/>
            </a:solidFill>
            <a:prstDash val="solid"/>
          </a:ln>
        </p:spPr>
      </p:sp>
      <p:sp>
        <p:nvSpPr>
          <p:cNvPr id="13" name="Text 11"/>
          <p:cNvSpPr/>
          <p:nvPr/>
        </p:nvSpPr>
        <p:spPr>
          <a:xfrm>
            <a:off x="3401568" y="1271016"/>
            <a:ext cx="2651760" cy="219456"/>
          </a:xfrm>
          <a:prstGeom prst="rect">
            <a:avLst/>
          </a:prstGeom>
          <a:noFill/>
          <a:ln/>
        </p:spPr>
        <p:txBody>
          <a:bodyPr wrap="square" lIns="0" tIns="0" rIns="0" bIns="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(b) Problem</a:t>
            </a:r>
            <a:endParaRPr lang="en-US" sz="850" dirty="0"/>
          </a:p>
        </p:txBody>
      </p:sp>
      <p:sp>
        <p:nvSpPr>
          <p:cNvPr id="14" name="Text 12"/>
          <p:cNvSpPr/>
          <p:nvPr/>
        </p:nvSpPr>
        <p:spPr>
          <a:xfrm>
            <a:off x="3401568" y="1554480"/>
            <a:ext cx="2651760" cy="2651760"/>
          </a:xfrm>
          <a:prstGeom prst="rect">
            <a:avLst/>
          </a:prstGeom>
          <a:noFill/>
          <a:ln/>
        </p:spPr>
        <p:txBody>
          <a:bodyPr wrap="square" lIns="0" tIns="0" rIns="0" bIns="0" rtlCol="0" anchor="t"/>
          <a:lstStyle/>
          <a:p>
            <a:pPr indent="0" marL="0">
              <a:buNone/>
            </a:pPr>
            <a:r>
              <a:rPr lang="en-US" sz="1100" dirty="0">
                <a:solidFill>
                  <a:srgbClr val="E8E4F0"/>
                </a:solidFill>
                <a:latin typeface="Calibri" pitchFamily="34" charset="0"/>
                <a:ea typeface="Calibri" pitchFamily="34" charset="-122"/>
                <a:cs typeface="Calibri" pitchFamily="34" charset="-120"/>
              </a:rPr>
              <a:t>"Talk to an Expert" is a hard stop for 80%+ of developers who evaluate infra by trying, not by talking. Enterprise buyers expect qualified routing, not a generic form. Both audiences distrust the product before it makes a single call. Retell and Vapi win this moment by default.</a:t>
            </a:r>
            <a:endParaRPr lang="en-US" sz="1100" dirty="0"/>
          </a:p>
        </p:txBody>
      </p:sp>
      <p:sp>
        <p:nvSpPr>
          <p:cNvPr id="15" name="Shape 13"/>
          <p:cNvSpPr/>
          <p:nvPr/>
        </p:nvSpPr>
        <p:spPr>
          <a:xfrm>
            <a:off x="6254496" y="1261872"/>
            <a:ext cx="2816352" cy="3017520"/>
          </a:xfrm>
          <a:prstGeom prst="rect">
            <a:avLst/>
          </a:prstGeom>
          <a:solidFill>
            <a:srgbClr val="1A2B40"/>
          </a:solidFill>
          <a:ln w="12700">
            <a:solidFill>
              <a:srgbClr val="22C97A"/>
            </a:solidFill>
            <a:prstDash val="solid"/>
          </a:ln>
        </p:spPr>
      </p:sp>
      <p:sp>
        <p:nvSpPr>
          <p:cNvPr id="16" name="Shape 14"/>
          <p:cNvSpPr/>
          <p:nvPr/>
        </p:nvSpPr>
        <p:spPr>
          <a:xfrm>
            <a:off x="6254496" y="1261872"/>
            <a:ext cx="2816352" cy="237744"/>
          </a:xfrm>
          <a:prstGeom prst="rect">
            <a:avLst/>
          </a:prstGeom>
          <a:solidFill>
            <a:srgbClr val="22C97A"/>
          </a:solidFill>
          <a:ln w="12700">
            <a:solidFill>
              <a:srgbClr val="22C97A"/>
            </a:solidFill>
            <a:prstDash val="solid"/>
          </a:ln>
        </p:spPr>
      </p:sp>
      <p:sp>
        <p:nvSpPr>
          <p:cNvPr id="17" name="Text 15"/>
          <p:cNvSpPr/>
          <p:nvPr/>
        </p:nvSpPr>
        <p:spPr>
          <a:xfrm>
            <a:off x="6345936" y="1271016"/>
            <a:ext cx="2651760" cy="219456"/>
          </a:xfrm>
          <a:prstGeom prst="rect">
            <a:avLst/>
          </a:prstGeom>
          <a:noFill/>
          <a:ln/>
        </p:spPr>
        <p:txBody>
          <a:bodyPr wrap="square" lIns="0" tIns="0" rIns="0" bIns="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(c) Ship Instead</a:t>
            </a:r>
            <a:endParaRPr lang="en-US" sz="850" dirty="0"/>
          </a:p>
        </p:txBody>
      </p:sp>
      <p:sp>
        <p:nvSpPr>
          <p:cNvPr id="18" name="Text 16"/>
          <p:cNvSpPr/>
          <p:nvPr/>
        </p:nvSpPr>
        <p:spPr>
          <a:xfrm>
            <a:off x="6345936" y="1554480"/>
            <a:ext cx="2651760" cy="2651760"/>
          </a:xfrm>
          <a:prstGeom prst="rect">
            <a:avLst/>
          </a:prstGeom>
          <a:noFill/>
          <a:ln/>
        </p:spPr>
        <p:txBody>
          <a:bodyPr wrap="square" lIns="0" tIns="0" rIns="0" bIns="0" rtlCol="0" anchor="t"/>
          <a:lstStyle/>
          <a:p>
            <a:pPr indent="0" marL="0">
              <a:buNone/>
            </a:pPr>
            <a:r>
              <a:rPr lang="en-US" sz="1100" dirty="0">
                <a:solidFill>
                  <a:srgbClr val="E8E4F0"/>
                </a:solidFill>
                <a:latin typeface="Calibri" pitchFamily="34" charset="0"/>
                <a:ea typeface="Calibri" pitchFamily="34" charset="-122"/>
                <a:cs typeface="Calibri" pitchFamily="34" charset="-120"/>
              </a:rPr>
              <a:t>Split the hero into two CTAs:</a:t>
            </a:r>
            <a:endParaRPr lang="en-US" sz="1100" dirty="0"/>
          </a:p>
          <a:p>
            <a:pPr indent="0" marL="0">
              <a:buNone/>
            </a:pPr>
            <a:r>
              <a:rPr lang="en-US" sz="1100" dirty="0">
                <a:solidFill>
                  <a:srgbClr val="E8E4F0"/>
                </a:solidFill>
                <a:latin typeface="Calibri" pitchFamily="34" charset="0"/>
                <a:ea typeface="Calibri" pitchFamily="34" charset="-122"/>
                <a:cs typeface="Calibri" pitchFamily="34" charset="-120"/>
              </a:rPr>
              <a:t>→ "Start building free" → API key, no form, live in &lt;2 mins</a:t>
            </a:r>
            <a:endParaRPr lang="en-US" sz="1100" dirty="0"/>
          </a:p>
          <a:p>
            <a:pPr indent="0" marL="0">
              <a:buNone/>
            </a:pPr>
            <a:r>
              <a:rPr lang="en-US" sz="1100" dirty="0">
                <a:solidFill>
                  <a:srgbClr val="E8E4F0"/>
                </a:solidFill>
                <a:latin typeface="Calibri" pitchFamily="34" charset="0"/>
                <a:ea typeface="Calibri" pitchFamily="34" charset="-122"/>
                <a:cs typeface="Calibri" pitchFamily="34" charset="-120"/>
              </a:rPr>
              <a:t>→ "See enterprise demo" → qualified lead form with industry routing</a:t>
            </a:r>
            <a:endParaRPr lang="en-US" sz="1100" dirty="0"/>
          </a:p>
          <a:p>
            <a:pPr indent="0" marL="0">
              <a:buNone/>
            </a:pPr>
            <a:endParaRPr lang="en-US" sz="1100" dirty="0"/>
          </a:p>
          <a:p>
            <a:pPr indent="0" marL="0">
              <a:buNone/>
            </a:pPr>
            <a:r>
              <a:rPr lang="en-US" sz="1100" dirty="0">
                <a:solidFill>
                  <a:srgbClr val="E8E4F0"/>
                </a:solidFill>
                <a:latin typeface="Calibri" pitchFamily="34" charset="0"/>
                <a:ea typeface="Calibri" pitchFamily="34" charset="-122"/>
                <a:cs typeface="Calibri" pitchFamily="34" charset="-120"/>
              </a:rPr>
              <a:t>The "GET STARTED · 2 mins" nav button must route to the sandbox — not a contact form. Make the 2-min promise true.</a:t>
            </a:r>
            <a:endParaRPr lang="en-US" sz="1100" dirty="0"/>
          </a:p>
        </p:txBody>
      </p:sp>
      <p:sp>
        <p:nvSpPr>
          <p:cNvPr id="19" name="Text 17"/>
          <p:cNvSpPr/>
          <p:nvPr/>
        </p:nvSpPr>
        <p:spPr>
          <a:xfrm>
            <a:off x="365760" y="4407408"/>
            <a:ext cx="1828800" cy="228600"/>
          </a:xfrm>
          <a:prstGeom prst="rect">
            <a:avLst/>
          </a:prstGeom>
          <a:noFill/>
          <a:ln/>
        </p:spPr>
        <p:txBody>
          <a:bodyPr wrap="square" lIns="0" tIns="0" rIns="0" bIns="0" rtlCol="0" anchor="ctr"/>
          <a:lstStyle/>
          <a:p>
            <a:pPr indent="0" marL="0">
              <a:buNone/>
            </a:pPr>
            <a:r>
              <a:rPr lang="en-US" sz="800" b="1" spc="100" kern="0" dirty="0">
                <a:solidFill>
                  <a:srgbClr val="8B8FA8"/>
                </a:solidFill>
                <a:latin typeface="Calibri" pitchFamily="34" charset="0"/>
                <a:ea typeface="Calibri" pitchFamily="34" charset="-122"/>
                <a:cs typeface="Calibri" pitchFamily="34" charset="-120"/>
              </a:rPr>
              <a:t>EXPECTED IMPACT:</a:t>
            </a:r>
            <a:endParaRPr lang="en-US" sz="800" dirty="0"/>
          </a:p>
        </p:txBody>
      </p:sp>
      <p:sp>
        <p:nvSpPr>
          <p:cNvPr id="20" name="Shape 18"/>
          <p:cNvSpPr/>
          <p:nvPr/>
        </p:nvSpPr>
        <p:spPr>
          <a:xfrm>
            <a:off x="1737360" y="4407408"/>
            <a:ext cx="2481682" cy="237744"/>
          </a:xfrm>
          <a:prstGeom prst="rect">
            <a:avLst/>
          </a:prstGeom>
          <a:solidFill>
            <a:srgbClr val="0A2E1C"/>
          </a:solidFill>
          <a:ln w="9525">
            <a:solidFill>
              <a:srgbClr val="22C97A"/>
            </a:solidFill>
            <a:prstDash val="solid"/>
          </a:ln>
        </p:spPr>
      </p:sp>
      <p:sp>
        <p:nvSpPr>
          <p:cNvPr id="21" name="Text 19"/>
          <p:cNvSpPr/>
          <p:nvPr/>
        </p:nvSpPr>
        <p:spPr>
          <a:xfrm>
            <a:off x="1810512" y="4425696"/>
            <a:ext cx="2371954" cy="201168"/>
          </a:xfrm>
          <a:prstGeom prst="rect">
            <a:avLst/>
          </a:prstGeom>
          <a:noFill/>
          <a:ln/>
        </p:spPr>
        <p:txBody>
          <a:bodyPr wrap="square" lIns="0" tIns="0" rIns="0" bIns="0" rtlCol="0" anchor="ctr"/>
          <a:lstStyle/>
          <a:p>
            <a:pPr indent="0" marL="0">
              <a:buNone/>
            </a:pPr>
            <a:r>
              <a:rPr lang="en-US" sz="900" dirty="0">
                <a:solidFill>
                  <a:srgbClr val="22C97A"/>
                </a:solidFill>
                <a:latin typeface="Calibri" pitchFamily="34" charset="0"/>
                <a:ea typeface="Calibri" pitchFamily="34" charset="-122"/>
                <a:cs typeface="Calibri" pitchFamily="34" charset="-120"/>
              </a:rPr>
              <a:t>Developer activation +40–60%</a:t>
            </a:r>
            <a:endParaRPr lang="en-US" sz="900" dirty="0"/>
          </a:p>
        </p:txBody>
      </p:sp>
      <p:sp>
        <p:nvSpPr>
          <p:cNvPr id="22" name="Shape 20"/>
          <p:cNvSpPr/>
          <p:nvPr/>
        </p:nvSpPr>
        <p:spPr>
          <a:xfrm>
            <a:off x="4328770" y="4407408"/>
            <a:ext cx="3527755" cy="237744"/>
          </a:xfrm>
          <a:prstGeom prst="rect">
            <a:avLst/>
          </a:prstGeom>
          <a:solidFill>
            <a:srgbClr val="0A2E1C"/>
          </a:solidFill>
          <a:ln w="9525">
            <a:solidFill>
              <a:srgbClr val="22C97A"/>
            </a:solidFill>
            <a:prstDash val="solid"/>
          </a:ln>
        </p:spPr>
      </p:sp>
      <p:sp>
        <p:nvSpPr>
          <p:cNvPr id="23" name="Text 21"/>
          <p:cNvSpPr/>
          <p:nvPr/>
        </p:nvSpPr>
        <p:spPr>
          <a:xfrm>
            <a:off x="4401922" y="4425696"/>
            <a:ext cx="3418027" cy="201168"/>
          </a:xfrm>
          <a:prstGeom prst="rect">
            <a:avLst/>
          </a:prstGeom>
          <a:noFill/>
          <a:ln/>
        </p:spPr>
        <p:txBody>
          <a:bodyPr wrap="square" lIns="0" tIns="0" rIns="0" bIns="0" rtlCol="0" anchor="ctr"/>
          <a:lstStyle/>
          <a:p>
            <a:pPr indent="0" marL="0">
              <a:buNone/>
            </a:pPr>
            <a:r>
              <a:rPr lang="en-US" sz="900" dirty="0">
                <a:solidFill>
                  <a:srgbClr val="22C97A"/>
                </a:solidFill>
                <a:latin typeface="Calibri" pitchFamily="34" charset="0"/>
                <a:ea typeface="Calibri" pitchFamily="34" charset="-122"/>
                <a:cs typeface="Calibri" pitchFamily="34" charset="-120"/>
              </a:rPr>
              <a:t>Demo conversion up (qualified leads only)</a:t>
            </a:r>
            <a:endParaRPr lang="en-US" sz="900" dirty="0"/>
          </a:p>
        </p:txBody>
      </p:sp>
      <p:sp>
        <p:nvSpPr>
          <p:cNvPr id="24" name="Shape 22"/>
          <p:cNvSpPr/>
          <p:nvPr/>
        </p:nvSpPr>
        <p:spPr>
          <a:xfrm>
            <a:off x="7966253" y="4407408"/>
            <a:ext cx="1918411" cy="237744"/>
          </a:xfrm>
          <a:prstGeom prst="rect">
            <a:avLst/>
          </a:prstGeom>
          <a:solidFill>
            <a:srgbClr val="2E1E00"/>
          </a:solidFill>
          <a:ln w="9525">
            <a:solidFill>
              <a:srgbClr val="F5A623"/>
            </a:solidFill>
            <a:prstDash val="solid"/>
          </a:ln>
        </p:spPr>
      </p:sp>
      <p:sp>
        <p:nvSpPr>
          <p:cNvPr id="25" name="Text 23"/>
          <p:cNvSpPr/>
          <p:nvPr/>
        </p:nvSpPr>
        <p:spPr>
          <a:xfrm>
            <a:off x="8039405" y="4425696"/>
            <a:ext cx="1808683" cy="201168"/>
          </a:xfrm>
          <a:prstGeom prst="rect">
            <a:avLst/>
          </a:prstGeom>
          <a:noFill/>
          <a:ln/>
        </p:spPr>
        <p:txBody>
          <a:bodyPr wrap="square" lIns="0" tIns="0" rIns="0" bIns="0" rtlCol="0" anchor="ctr"/>
          <a:lstStyle/>
          <a:p>
            <a:pPr indent="0" marL="0">
              <a:buNone/>
            </a:pPr>
            <a:r>
              <a:rPr lang="en-US" sz="900" dirty="0">
                <a:solidFill>
                  <a:srgbClr val="F5A623"/>
                </a:solidFill>
                <a:latin typeface="Calibri" pitchFamily="34" charset="0"/>
                <a:ea typeface="Calibri" pitchFamily="34" charset="-122"/>
                <a:cs typeface="Calibri" pitchFamily="34" charset="-120"/>
              </a:rPr>
              <a:t>Sales cycle shortened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3FFF"/>
          </a:solidFill>
          <a:ln w="12700">
            <a:solidFill>
              <a:srgbClr val="6C3FFF"/>
            </a:solidFill>
            <a:prstDash val="solid"/>
          </a:ln>
        </p:spPr>
      </p:sp>
      <p:sp>
        <p:nvSpPr>
          <p:cNvPr id="3" name="Text 1"/>
          <p:cNvSpPr/>
          <p:nvPr/>
        </p:nvSpPr>
        <p:spPr>
          <a:xfrm>
            <a:off x="365760" y="228600"/>
            <a:ext cx="640080" cy="347472"/>
          </a:xfrm>
          <a:prstGeom prst="rect">
            <a:avLst/>
          </a:prstGeom>
          <a:noFill/>
          <a:ln/>
        </p:spPr>
        <p:txBody>
          <a:bodyPr wrap="square" lIns="0" tIns="0" rIns="0" bIns="0" rtlCol="0" anchor="ctr"/>
          <a:lstStyle/>
          <a:p>
            <a:pPr indent="0" marL="0">
              <a:buNone/>
            </a:pPr>
            <a:r>
              <a:rPr lang="en-US" sz="1100" b="1" dirty="0">
                <a:solidFill>
                  <a:srgbClr val="6C3FFF"/>
                </a:solidFill>
                <a:latin typeface="Calibri" pitchFamily="34" charset="0"/>
                <a:ea typeface="Calibri" pitchFamily="34" charset="-122"/>
                <a:cs typeface="Calibri" pitchFamily="34" charset="-120"/>
              </a:rPr>
              <a:t>05</a:t>
            </a:r>
            <a:endParaRPr lang="en-US" sz="1100" dirty="0"/>
          </a:p>
        </p:txBody>
      </p:sp>
      <p:sp>
        <p:nvSpPr>
          <p:cNvPr id="4" name="Shape 2"/>
          <p:cNvSpPr/>
          <p:nvPr/>
        </p:nvSpPr>
        <p:spPr>
          <a:xfrm>
            <a:off x="822960" y="256032"/>
            <a:ext cx="1554480" cy="274320"/>
          </a:xfrm>
          <a:prstGeom prst="rect">
            <a:avLst/>
          </a:prstGeom>
          <a:solidFill>
            <a:srgbClr val="1E1040"/>
          </a:solidFill>
          <a:ln w="9525">
            <a:solidFill>
              <a:srgbClr val="6C3FFF"/>
            </a:solidFill>
            <a:prstDash val="solid"/>
          </a:ln>
        </p:spPr>
      </p:sp>
      <p:sp>
        <p:nvSpPr>
          <p:cNvPr id="5" name="Text 3"/>
          <p:cNvSpPr/>
          <p:nvPr/>
        </p:nvSpPr>
        <p:spPr>
          <a:xfrm>
            <a:off x="868680" y="274320"/>
            <a:ext cx="1463040" cy="237744"/>
          </a:xfrm>
          <a:prstGeom prst="rect">
            <a:avLst/>
          </a:prstGeom>
          <a:noFill/>
          <a:ln/>
        </p:spPr>
        <p:txBody>
          <a:bodyPr wrap="square" lIns="0" tIns="0" rIns="0" bIns="0" rtlCol="0" anchor="ctr"/>
          <a:lstStyle/>
          <a:p>
            <a:pPr indent="0" marL="0">
              <a:buNone/>
            </a:pPr>
            <a:r>
              <a:rPr lang="en-US" sz="800" b="1" spc="100" kern="0" dirty="0">
                <a:solidFill>
                  <a:srgbClr val="9B72FF"/>
                </a:solidFill>
                <a:latin typeface="Calibri" pitchFamily="34" charset="0"/>
                <a:ea typeface="Calibri" pitchFamily="34" charset="-122"/>
                <a:cs typeface="Calibri" pitchFamily="34" charset="-120"/>
              </a:rPr>
              <a:t>TRUST · DEMO EXPERIENCE</a:t>
            </a:r>
            <a:endParaRPr lang="en-US" sz="800" dirty="0"/>
          </a:p>
        </p:txBody>
      </p:sp>
      <p:sp>
        <p:nvSpPr>
          <p:cNvPr id="6" name="Text 4"/>
          <p:cNvSpPr/>
          <p:nvPr/>
        </p:nvSpPr>
        <p:spPr>
          <a:xfrm>
            <a:off x="365760" y="566928"/>
            <a:ext cx="8412480" cy="59436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Voice AI product with no audible proof above the fold</a:t>
            </a:r>
            <a:endParaRPr lang="en-US" sz="1900" dirty="0"/>
          </a:p>
        </p:txBody>
      </p:sp>
      <p:sp>
        <p:nvSpPr>
          <p:cNvPr id="7" name="Shape 5"/>
          <p:cNvSpPr/>
          <p:nvPr/>
        </p:nvSpPr>
        <p:spPr>
          <a:xfrm>
            <a:off x="365760" y="1261872"/>
            <a:ext cx="2816352" cy="3017520"/>
          </a:xfrm>
          <a:prstGeom prst="rect">
            <a:avLst/>
          </a:prstGeom>
          <a:solidFill>
            <a:srgbClr val="1A2B40"/>
          </a:solidFill>
          <a:ln w="12700">
            <a:solidFill>
              <a:srgbClr val="F5A623"/>
            </a:solidFill>
            <a:prstDash val="solid"/>
          </a:ln>
        </p:spPr>
      </p:sp>
      <p:sp>
        <p:nvSpPr>
          <p:cNvPr id="8" name="Shape 6"/>
          <p:cNvSpPr/>
          <p:nvPr/>
        </p:nvSpPr>
        <p:spPr>
          <a:xfrm>
            <a:off x="365760" y="1261872"/>
            <a:ext cx="2816352" cy="237744"/>
          </a:xfrm>
          <a:prstGeom prst="rect">
            <a:avLst/>
          </a:prstGeom>
          <a:solidFill>
            <a:srgbClr val="F5A623"/>
          </a:solidFill>
          <a:ln w="12700">
            <a:solidFill>
              <a:srgbClr val="F5A623"/>
            </a:solidFill>
            <a:prstDash val="solid"/>
          </a:ln>
        </p:spPr>
      </p:sp>
      <p:sp>
        <p:nvSpPr>
          <p:cNvPr id="9" name="Text 7"/>
          <p:cNvSpPr/>
          <p:nvPr/>
        </p:nvSpPr>
        <p:spPr>
          <a:xfrm>
            <a:off x="457200" y="1271016"/>
            <a:ext cx="2651760" cy="219456"/>
          </a:xfrm>
          <a:prstGeom prst="rect">
            <a:avLst/>
          </a:prstGeom>
          <a:noFill/>
          <a:ln/>
        </p:spPr>
        <p:txBody>
          <a:bodyPr wrap="square" lIns="0" tIns="0" rIns="0" bIns="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(a) Observed</a:t>
            </a:r>
            <a:endParaRPr lang="en-US" sz="850" dirty="0"/>
          </a:p>
        </p:txBody>
      </p:sp>
      <p:sp>
        <p:nvSpPr>
          <p:cNvPr id="10" name="Text 8"/>
          <p:cNvSpPr/>
          <p:nvPr/>
        </p:nvSpPr>
        <p:spPr>
          <a:xfrm>
            <a:off x="457200" y="1554480"/>
            <a:ext cx="2651760" cy="2651760"/>
          </a:xfrm>
          <a:prstGeom prst="rect">
            <a:avLst/>
          </a:prstGeom>
          <a:noFill/>
          <a:ln/>
        </p:spPr>
        <p:txBody>
          <a:bodyPr wrap="square" lIns="0" tIns="0" rIns="0" bIns="0" rtlCol="0" anchor="t"/>
          <a:lstStyle/>
          <a:p>
            <a:pPr indent="0" marL="0">
              <a:buNone/>
            </a:pPr>
            <a:r>
              <a:rPr lang="en-US" sz="1100" dirty="0">
                <a:solidFill>
                  <a:srgbClr val="E8E4F0"/>
                </a:solidFill>
                <a:latin typeface="Calibri" pitchFamily="34" charset="0"/>
                <a:ea typeface="Calibri" pitchFamily="34" charset="-122"/>
                <a:cs typeface="Calibri" pitchFamily="34" charset="-120"/>
              </a:rPr>
              <a:t>The only demo is a 24-second infrastructure explainer video, buried below the feature grid under "Voice AI infrastructure built to scale." Zero audio samples, live call widgets, or real conversation snippets appear above the fold. Sub-products (VocalAssist, AI Recruiter) show UI cards — no playable audio.</a:t>
            </a:r>
            <a:endParaRPr lang="en-US" sz="1100" dirty="0"/>
          </a:p>
        </p:txBody>
      </p:sp>
      <p:sp>
        <p:nvSpPr>
          <p:cNvPr id="11" name="Shape 9"/>
          <p:cNvSpPr/>
          <p:nvPr/>
        </p:nvSpPr>
        <p:spPr>
          <a:xfrm>
            <a:off x="3310128" y="1261872"/>
            <a:ext cx="2816352" cy="3017520"/>
          </a:xfrm>
          <a:prstGeom prst="rect">
            <a:avLst/>
          </a:prstGeom>
          <a:solidFill>
            <a:srgbClr val="1A2B40"/>
          </a:solidFill>
          <a:ln w="12700">
            <a:solidFill>
              <a:srgbClr val="E8445A"/>
            </a:solidFill>
            <a:prstDash val="solid"/>
          </a:ln>
        </p:spPr>
      </p:sp>
      <p:sp>
        <p:nvSpPr>
          <p:cNvPr id="12" name="Shape 10"/>
          <p:cNvSpPr/>
          <p:nvPr/>
        </p:nvSpPr>
        <p:spPr>
          <a:xfrm>
            <a:off x="3310128" y="1261872"/>
            <a:ext cx="2816352" cy="237744"/>
          </a:xfrm>
          <a:prstGeom prst="rect">
            <a:avLst/>
          </a:prstGeom>
          <a:solidFill>
            <a:srgbClr val="E8445A"/>
          </a:solidFill>
          <a:ln w="12700">
            <a:solidFill>
              <a:srgbClr val="E8445A"/>
            </a:solidFill>
            <a:prstDash val="solid"/>
          </a:ln>
        </p:spPr>
      </p:sp>
      <p:sp>
        <p:nvSpPr>
          <p:cNvPr id="13" name="Text 11"/>
          <p:cNvSpPr/>
          <p:nvPr/>
        </p:nvSpPr>
        <p:spPr>
          <a:xfrm>
            <a:off x="3401568" y="1271016"/>
            <a:ext cx="2651760" cy="219456"/>
          </a:xfrm>
          <a:prstGeom prst="rect">
            <a:avLst/>
          </a:prstGeom>
          <a:noFill/>
          <a:ln/>
        </p:spPr>
        <p:txBody>
          <a:bodyPr wrap="square" lIns="0" tIns="0" rIns="0" bIns="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(b) Problem</a:t>
            </a:r>
            <a:endParaRPr lang="en-US" sz="850" dirty="0"/>
          </a:p>
        </p:txBody>
      </p:sp>
      <p:sp>
        <p:nvSpPr>
          <p:cNvPr id="14" name="Text 12"/>
          <p:cNvSpPr/>
          <p:nvPr/>
        </p:nvSpPr>
        <p:spPr>
          <a:xfrm>
            <a:off x="3401568" y="1554480"/>
            <a:ext cx="2651760" cy="2651760"/>
          </a:xfrm>
          <a:prstGeom prst="rect">
            <a:avLst/>
          </a:prstGeom>
          <a:noFill/>
          <a:ln/>
        </p:spPr>
        <p:txBody>
          <a:bodyPr wrap="square" lIns="0" tIns="0" rIns="0" bIns="0" rtlCol="0" anchor="t"/>
          <a:lstStyle/>
          <a:p>
            <a:pPr indent="0" marL="0">
              <a:buNone/>
            </a:pPr>
            <a:r>
              <a:rPr lang="en-US" sz="1100" dirty="0">
                <a:solidFill>
                  <a:srgbClr val="E8E4F0"/>
                </a:solidFill>
                <a:latin typeface="Calibri" pitchFamily="34" charset="0"/>
                <a:ea typeface="Calibri" pitchFamily="34" charset="-122"/>
                <a:cs typeface="Calibri" pitchFamily="34" charset="-120"/>
              </a:rPr>
              <a:t>Every competitor (Retell, Bland, Vapi) surfaces a real call in the hero. Voice AI literally sells itself if you let people hear it. The quality floor varies enormously — buyers need to hear: Does it sound human? Handle interruptions? Work with Indian accents? Reading "Sub-300ms. Every Call." answers none of these.</a:t>
            </a:r>
            <a:endParaRPr lang="en-US" sz="1100" dirty="0"/>
          </a:p>
        </p:txBody>
      </p:sp>
      <p:sp>
        <p:nvSpPr>
          <p:cNvPr id="15" name="Shape 13"/>
          <p:cNvSpPr/>
          <p:nvPr/>
        </p:nvSpPr>
        <p:spPr>
          <a:xfrm>
            <a:off x="6254496" y="1261872"/>
            <a:ext cx="2816352" cy="3017520"/>
          </a:xfrm>
          <a:prstGeom prst="rect">
            <a:avLst/>
          </a:prstGeom>
          <a:solidFill>
            <a:srgbClr val="1A2B40"/>
          </a:solidFill>
          <a:ln w="12700">
            <a:solidFill>
              <a:srgbClr val="22C97A"/>
            </a:solidFill>
            <a:prstDash val="solid"/>
          </a:ln>
        </p:spPr>
      </p:sp>
      <p:sp>
        <p:nvSpPr>
          <p:cNvPr id="16" name="Shape 14"/>
          <p:cNvSpPr/>
          <p:nvPr/>
        </p:nvSpPr>
        <p:spPr>
          <a:xfrm>
            <a:off x="6254496" y="1261872"/>
            <a:ext cx="2816352" cy="237744"/>
          </a:xfrm>
          <a:prstGeom prst="rect">
            <a:avLst/>
          </a:prstGeom>
          <a:solidFill>
            <a:srgbClr val="22C97A"/>
          </a:solidFill>
          <a:ln w="12700">
            <a:solidFill>
              <a:srgbClr val="22C97A"/>
            </a:solidFill>
            <a:prstDash val="solid"/>
          </a:ln>
        </p:spPr>
      </p:sp>
      <p:sp>
        <p:nvSpPr>
          <p:cNvPr id="17" name="Text 15"/>
          <p:cNvSpPr/>
          <p:nvPr/>
        </p:nvSpPr>
        <p:spPr>
          <a:xfrm>
            <a:off x="6345936" y="1271016"/>
            <a:ext cx="2651760" cy="219456"/>
          </a:xfrm>
          <a:prstGeom prst="rect">
            <a:avLst/>
          </a:prstGeom>
          <a:noFill/>
          <a:ln/>
        </p:spPr>
        <p:txBody>
          <a:bodyPr wrap="square" lIns="0" tIns="0" rIns="0" bIns="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(c) Ship Instead</a:t>
            </a:r>
            <a:endParaRPr lang="en-US" sz="850" dirty="0"/>
          </a:p>
        </p:txBody>
      </p:sp>
      <p:sp>
        <p:nvSpPr>
          <p:cNvPr id="18" name="Text 16"/>
          <p:cNvSpPr/>
          <p:nvPr/>
        </p:nvSpPr>
        <p:spPr>
          <a:xfrm>
            <a:off x="6345936" y="1554480"/>
            <a:ext cx="2651760" cy="2651760"/>
          </a:xfrm>
          <a:prstGeom prst="rect">
            <a:avLst/>
          </a:prstGeom>
          <a:noFill/>
          <a:ln/>
        </p:spPr>
        <p:txBody>
          <a:bodyPr wrap="square" lIns="0" tIns="0" rIns="0" bIns="0" rtlCol="0" anchor="t"/>
          <a:lstStyle/>
          <a:p>
            <a:pPr indent="0" marL="0">
              <a:buNone/>
            </a:pPr>
            <a:r>
              <a:rPr lang="en-US" sz="1100" dirty="0">
                <a:solidFill>
                  <a:srgbClr val="E8E4F0"/>
                </a:solidFill>
                <a:latin typeface="Calibri" pitchFamily="34" charset="0"/>
                <a:ea typeface="Calibri" pitchFamily="34" charset="-122"/>
                <a:cs typeface="Calibri" pitchFamily="34" charset="-120"/>
              </a:rPr>
              <a:t>Add 30s playable call snippet to the hero above feature grid:</a:t>
            </a:r>
            <a:endParaRPr lang="en-US" sz="1100" dirty="0"/>
          </a:p>
          <a:p>
            <a:pPr indent="0" marL="0">
              <a:buNone/>
            </a:pPr>
            <a:r>
              <a:rPr lang="en-US" sz="1100" dirty="0">
                <a:solidFill>
                  <a:srgbClr val="E8E4F0"/>
                </a:solidFill>
                <a:latin typeface="Calibri" pitchFamily="34" charset="0"/>
                <a:ea typeface="Calibri" pitchFamily="34" charset="-122"/>
                <a:cs typeface="Calibri" pitchFamily="34" charset="-120"/>
              </a:rPr>
              <a:t>→ Minimum: audio player with 3 real recordings (support/booking/sales)</a:t>
            </a:r>
            <a:endParaRPr lang="en-US" sz="1100" dirty="0"/>
          </a:p>
          <a:p>
            <a:pPr indent="0" marL="0">
              <a:buNone/>
            </a:pPr>
            <a:r>
              <a:rPr lang="en-US" sz="1100" dirty="0">
                <a:solidFill>
                  <a:srgbClr val="E8E4F0"/>
                </a:solidFill>
                <a:latin typeface="Calibri" pitchFamily="34" charset="0"/>
                <a:ea typeface="Calibri" pitchFamily="34" charset="-122"/>
                <a:cs typeface="Calibri" pitchFamily="34" charset="-120"/>
              </a:rPr>
              <a:t>→ High-value: "Call me now" button dials visitor's number and connects to a live demo agent in real time</a:t>
            </a:r>
            <a:endParaRPr lang="en-US" sz="1100" dirty="0"/>
          </a:p>
          <a:p>
            <a:pPr indent="0" marL="0">
              <a:buNone/>
            </a:pPr>
            <a:endParaRPr lang="en-US" sz="1100" dirty="0"/>
          </a:p>
          <a:p>
            <a:pPr indent="0" marL="0">
              <a:buNone/>
            </a:pPr>
            <a:r>
              <a:rPr lang="en-US" sz="1100" dirty="0">
                <a:solidFill>
                  <a:srgbClr val="E8E4F0"/>
                </a:solidFill>
                <a:latin typeface="Calibri" pitchFamily="34" charset="0"/>
                <a:ea typeface="Calibri" pitchFamily="34" charset="-122"/>
                <a:cs typeface="Calibri" pitchFamily="34" charset="-120"/>
              </a:rPr>
              <a:t>This is a 3-day ship using their own stack.</a:t>
            </a:r>
            <a:endParaRPr lang="en-US" sz="1100" dirty="0"/>
          </a:p>
        </p:txBody>
      </p:sp>
      <p:sp>
        <p:nvSpPr>
          <p:cNvPr id="19" name="Text 17"/>
          <p:cNvSpPr/>
          <p:nvPr/>
        </p:nvSpPr>
        <p:spPr>
          <a:xfrm>
            <a:off x="365760" y="4407408"/>
            <a:ext cx="1828800" cy="228600"/>
          </a:xfrm>
          <a:prstGeom prst="rect">
            <a:avLst/>
          </a:prstGeom>
          <a:noFill/>
          <a:ln/>
        </p:spPr>
        <p:txBody>
          <a:bodyPr wrap="square" lIns="0" tIns="0" rIns="0" bIns="0" rtlCol="0" anchor="ctr"/>
          <a:lstStyle/>
          <a:p>
            <a:pPr indent="0" marL="0">
              <a:buNone/>
            </a:pPr>
            <a:r>
              <a:rPr lang="en-US" sz="800" b="1" spc="100" kern="0" dirty="0">
                <a:solidFill>
                  <a:srgbClr val="8B8FA8"/>
                </a:solidFill>
                <a:latin typeface="Calibri" pitchFamily="34" charset="0"/>
                <a:ea typeface="Calibri" pitchFamily="34" charset="-122"/>
                <a:cs typeface="Calibri" pitchFamily="34" charset="-120"/>
              </a:rPr>
              <a:t>EXPECTED IMPACT:</a:t>
            </a:r>
            <a:endParaRPr lang="en-US" sz="800" dirty="0"/>
          </a:p>
        </p:txBody>
      </p:sp>
      <p:sp>
        <p:nvSpPr>
          <p:cNvPr id="20" name="Shape 18"/>
          <p:cNvSpPr/>
          <p:nvPr/>
        </p:nvSpPr>
        <p:spPr>
          <a:xfrm>
            <a:off x="1737360" y="4407408"/>
            <a:ext cx="1918411" cy="237744"/>
          </a:xfrm>
          <a:prstGeom prst="rect">
            <a:avLst/>
          </a:prstGeom>
          <a:solidFill>
            <a:srgbClr val="0A2E1C"/>
          </a:solidFill>
          <a:ln w="9525">
            <a:solidFill>
              <a:srgbClr val="22C97A"/>
            </a:solidFill>
            <a:prstDash val="solid"/>
          </a:ln>
        </p:spPr>
      </p:sp>
      <p:sp>
        <p:nvSpPr>
          <p:cNvPr id="21" name="Text 19"/>
          <p:cNvSpPr/>
          <p:nvPr/>
        </p:nvSpPr>
        <p:spPr>
          <a:xfrm>
            <a:off x="1810512" y="4425696"/>
            <a:ext cx="1808683" cy="201168"/>
          </a:xfrm>
          <a:prstGeom prst="rect">
            <a:avLst/>
          </a:prstGeom>
          <a:noFill/>
          <a:ln/>
        </p:spPr>
        <p:txBody>
          <a:bodyPr wrap="square" lIns="0" tIns="0" rIns="0" bIns="0" rtlCol="0" anchor="ctr"/>
          <a:lstStyle/>
          <a:p>
            <a:pPr indent="0" marL="0">
              <a:buNone/>
            </a:pPr>
            <a:r>
              <a:rPr lang="en-US" sz="900" dirty="0">
                <a:solidFill>
                  <a:srgbClr val="22C97A"/>
                </a:solidFill>
                <a:latin typeface="Calibri" pitchFamily="34" charset="0"/>
                <a:ea typeface="Calibri" pitchFamily="34" charset="-122"/>
                <a:cs typeface="Calibri" pitchFamily="34" charset="-120"/>
              </a:rPr>
              <a:t>Bounce rate reduction</a:t>
            </a:r>
            <a:endParaRPr lang="en-US" sz="900" dirty="0"/>
          </a:p>
        </p:txBody>
      </p:sp>
      <p:sp>
        <p:nvSpPr>
          <p:cNvPr id="22" name="Shape 20"/>
          <p:cNvSpPr/>
          <p:nvPr/>
        </p:nvSpPr>
        <p:spPr>
          <a:xfrm>
            <a:off x="3765499" y="4407408"/>
            <a:ext cx="1837944" cy="237744"/>
          </a:xfrm>
          <a:prstGeom prst="rect">
            <a:avLst/>
          </a:prstGeom>
          <a:solidFill>
            <a:srgbClr val="0A2E1C"/>
          </a:solidFill>
          <a:ln w="9525">
            <a:solidFill>
              <a:srgbClr val="22C97A"/>
            </a:solidFill>
            <a:prstDash val="solid"/>
          </a:ln>
        </p:spPr>
      </p:sp>
      <p:sp>
        <p:nvSpPr>
          <p:cNvPr id="23" name="Text 21"/>
          <p:cNvSpPr/>
          <p:nvPr/>
        </p:nvSpPr>
        <p:spPr>
          <a:xfrm>
            <a:off x="3838651" y="4425696"/>
            <a:ext cx="1728216" cy="201168"/>
          </a:xfrm>
          <a:prstGeom prst="rect">
            <a:avLst/>
          </a:prstGeom>
          <a:noFill/>
          <a:ln/>
        </p:spPr>
        <p:txBody>
          <a:bodyPr wrap="square" lIns="0" tIns="0" rIns="0" bIns="0" rtlCol="0" anchor="ctr"/>
          <a:lstStyle/>
          <a:p>
            <a:pPr indent="0" marL="0">
              <a:buNone/>
            </a:pPr>
            <a:r>
              <a:rPr lang="en-US" sz="900" dirty="0">
                <a:solidFill>
                  <a:srgbClr val="22C97A"/>
                </a:solidFill>
                <a:latin typeface="Calibri" pitchFamily="34" charset="0"/>
                <a:ea typeface="Calibri" pitchFamily="34" charset="-122"/>
                <a:cs typeface="Calibri" pitchFamily="34" charset="-120"/>
              </a:rPr>
              <a:t>Demo request +25–35%</a:t>
            </a:r>
            <a:endParaRPr lang="en-US" sz="900" dirty="0"/>
          </a:p>
        </p:txBody>
      </p:sp>
      <p:sp>
        <p:nvSpPr>
          <p:cNvPr id="24" name="Shape 22"/>
          <p:cNvSpPr/>
          <p:nvPr/>
        </p:nvSpPr>
        <p:spPr>
          <a:xfrm>
            <a:off x="5713171" y="4407408"/>
            <a:ext cx="2079346" cy="237744"/>
          </a:xfrm>
          <a:prstGeom prst="rect">
            <a:avLst/>
          </a:prstGeom>
          <a:solidFill>
            <a:srgbClr val="0A2E1C"/>
          </a:solidFill>
          <a:ln w="9525">
            <a:solidFill>
              <a:srgbClr val="22C97A"/>
            </a:solidFill>
            <a:prstDash val="solid"/>
          </a:ln>
        </p:spPr>
      </p:sp>
      <p:sp>
        <p:nvSpPr>
          <p:cNvPr id="25" name="Text 23"/>
          <p:cNvSpPr/>
          <p:nvPr/>
        </p:nvSpPr>
        <p:spPr>
          <a:xfrm>
            <a:off x="5786323" y="4425696"/>
            <a:ext cx="1969618" cy="201168"/>
          </a:xfrm>
          <a:prstGeom prst="rect">
            <a:avLst/>
          </a:prstGeom>
          <a:noFill/>
          <a:ln/>
        </p:spPr>
        <p:txBody>
          <a:bodyPr wrap="square" lIns="0" tIns="0" rIns="0" bIns="0" rtlCol="0" anchor="ctr"/>
          <a:lstStyle/>
          <a:p>
            <a:pPr indent="0" marL="0">
              <a:buNone/>
            </a:pPr>
            <a:r>
              <a:rPr lang="en-US" sz="900" dirty="0">
                <a:solidFill>
                  <a:srgbClr val="22C97A"/>
                </a:solidFill>
                <a:latin typeface="Calibri" pitchFamily="34" charset="0"/>
                <a:ea typeface="Calibri" pitchFamily="34" charset="-122"/>
                <a:cs typeface="Calibri" pitchFamily="34" charset="-120"/>
              </a:rPr>
              <a:t>Enterprise trust signal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3FFF"/>
          </a:solidFill>
          <a:ln w="12700">
            <a:solidFill>
              <a:srgbClr val="6C3FFF"/>
            </a:solidFill>
            <a:prstDash val="solid"/>
          </a:ln>
        </p:spPr>
      </p:sp>
      <p:sp>
        <p:nvSpPr>
          <p:cNvPr id="3" name="Text 1"/>
          <p:cNvSpPr/>
          <p:nvPr/>
        </p:nvSpPr>
        <p:spPr>
          <a:xfrm>
            <a:off x="365760" y="228600"/>
            <a:ext cx="640080" cy="347472"/>
          </a:xfrm>
          <a:prstGeom prst="rect">
            <a:avLst/>
          </a:prstGeom>
          <a:noFill/>
          <a:ln/>
        </p:spPr>
        <p:txBody>
          <a:bodyPr wrap="square" lIns="0" tIns="0" rIns="0" bIns="0" rtlCol="0" anchor="ctr"/>
          <a:lstStyle/>
          <a:p>
            <a:pPr indent="0" marL="0">
              <a:buNone/>
            </a:pPr>
            <a:r>
              <a:rPr lang="en-US" sz="1100" b="1" dirty="0">
                <a:solidFill>
                  <a:srgbClr val="6C3FFF"/>
                </a:solidFill>
                <a:latin typeface="Calibri" pitchFamily="34" charset="0"/>
                <a:ea typeface="Calibri" pitchFamily="34" charset="-122"/>
                <a:cs typeface="Calibri" pitchFamily="34" charset="-120"/>
              </a:rPr>
              <a:t>06</a:t>
            </a:r>
            <a:endParaRPr lang="en-US" sz="1100" dirty="0"/>
          </a:p>
        </p:txBody>
      </p:sp>
      <p:sp>
        <p:nvSpPr>
          <p:cNvPr id="4" name="Shape 2"/>
          <p:cNvSpPr/>
          <p:nvPr/>
        </p:nvSpPr>
        <p:spPr>
          <a:xfrm>
            <a:off x="822960" y="256032"/>
            <a:ext cx="1554480" cy="274320"/>
          </a:xfrm>
          <a:prstGeom prst="rect">
            <a:avLst/>
          </a:prstGeom>
          <a:solidFill>
            <a:srgbClr val="1E1040"/>
          </a:solidFill>
          <a:ln w="9525">
            <a:solidFill>
              <a:srgbClr val="6C3FFF"/>
            </a:solidFill>
            <a:prstDash val="solid"/>
          </a:ln>
        </p:spPr>
      </p:sp>
      <p:sp>
        <p:nvSpPr>
          <p:cNvPr id="5" name="Text 3"/>
          <p:cNvSpPr/>
          <p:nvPr/>
        </p:nvSpPr>
        <p:spPr>
          <a:xfrm>
            <a:off x="868680" y="274320"/>
            <a:ext cx="1463040" cy="237744"/>
          </a:xfrm>
          <a:prstGeom prst="rect">
            <a:avLst/>
          </a:prstGeom>
          <a:noFill/>
          <a:ln/>
        </p:spPr>
        <p:txBody>
          <a:bodyPr wrap="square" lIns="0" tIns="0" rIns="0" bIns="0" rtlCol="0" anchor="ctr"/>
          <a:lstStyle/>
          <a:p>
            <a:pPr indent="0" marL="0">
              <a:buNone/>
            </a:pPr>
            <a:r>
              <a:rPr lang="en-US" sz="800" b="1" spc="100" kern="0" dirty="0">
                <a:solidFill>
                  <a:srgbClr val="9B72FF"/>
                </a:solidFill>
                <a:latin typeface="Calibri" pitchFamily="34" charset="0"/>
                <a:ea typeface="Calibri" pitchFamily="34" charset="-122"/>
                <a:cs typeface="Calibri" pitchFamily="34" charset="-120"/>
              </a:rPr>
              <a:t>ICP CLARITY · GTM</a:t>
            </a:r>
            <a:endParaRPr lang="en-US" sz="800" dirty="0"/>
          </a:p>
        </p:txBody>
      </p:sp>
      <p:sp>
        <p:nvSpPr>
          <p:cNvPr id="6" name="Text 4"/>
          <p:cNvSpPr/>
          <p:nvPr/>
        </p:nvSpPr>
        <p:spPr>
          <a:xfrm>
            <a:off x="365760" y="566928"/>
            <a:ext cx="8412480" cy="59436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India-first positioning is a real moat — buried like a footnote</a:t>
            </a:r>
            <a:endParaRPr lang="en-US" sz="1900" dirty="0"/>
          </a:p>
        </p:txBody>
      </p:sp>
      <p:sp>
        <p:nvSpPr>
          <p:cNvPr id="7" name="Shape 5"/>
          <p:cNvSpPr/>
          <p:nvPr/>
        </p:nvSpPr>
        <p:spPr>
          <a:xfrm>
            <a:off x="365760" y="1261872"/>
            <a:ext cx="2816352" cy="3017520"/>
          </a:xfrm>
          <a:prstGeom prst="rect">
            <a:avLst/>
          </a:prstGeom>
          <a:solidFill>
            <a:srgbClr val="1A2B40"/>
          </a:solidFill>
          <a:ln w="12700">
            <a:solidFill>
              <a:srgbClr val="F5A623"/>
            </a:solidFill>
            <a:prstDash val="solid"/>
          </a:ln>
        </p:spPr>
      </p:sp>
      <p:sp>
        <p:nvSpPr>
          <p:cNvPr id="8" name="Shape 6"/>
          <p:cNvSpPr/>
          <p:nvPr/>
        </p:nvSpPr>
        <p:spPr>
          <a:xfrm>
            <a:off x="365760" y="1261872"/>
            <a:ext cx="2816352" cy="237744"/>
          </a:xfrm>
          <a:prstGeom prst="rect">
            <a:avLst/>
          </a:prstGeom>
          <a:solidFill>
            <a:srgbClr val="F5A623"/>
          </a:solidFill>
          <a:ln w="12700">
            <a:solidFill>
              <a:srgbClr val="F5A623"/>
            </a:solidFill>
            <a:prstDash val="solid"/>
          </a:ln>
        </p:spPr>
      </p:sp>
      <p:sp>
        <p:nvSpPr>
          <p:cNvPr id="9" name="Text 7"/>
          <p:cNvSpPr/>
          <p:nvPr/>
        </p:nvSpPr>
        <p:spPr>
          <a:xfrm>
            <a:off x="457200" y="1271016"/>
            <a:ext cx="2651760" cy="219456"/>
          </a:xfrm>
          <a:prstGeom prst="rect">
            <a:avLst/>
          </a:prstGeom>
          <a:noFill/>
          <a:ln/>
        </p:spPr>
        <p:txBody>
          <a:bodyPr wrap="square" lIns="0" tIns="0" rIns="0" bIns="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(a) Observed</a:t>
            </a:r>
            <a:endParaRPr lang="en-US" sz="850" dirty="0"/>
          </a:p>
        </p:txBody>
      </p:sp>
      <p:sp>
        <p:nvSpPr>
          <p:cNvPr id="10" name="Text 8"/>
          <p:cNvSpPr/>
          <p:nvPr/>
        </p:nvSpPr>
        <p:spPr>
          <a:xfrm>
            <a:off x="457200" y="1554480"/>
            <a:ext cx="2651760" cy="2651760"/>
          </a:xfrm>
          <a:prstGeom prst="rect">
            <a:avLst/>
          </a:prstGeom>
          <a:noFill/>
          <a:ln/>
        </p:spPr>
        <p:txBody>
          <a:bodyPr wrap="square" lIns="0" tIns="0" rIns="0" bIns="0" rtlCol="0" anchor="t"/>
          <a:lstStyle/>
          <a:p>
            <a:pPr indent="0" marL="0">
              <a:buNone/>
            </a:pPr>
            <a:r>
              <a:rPr lang="en-US" sz="1100" dirty="0">
                <a:solidFill>
                  <a:srgbClr val="E8E4F0"/>
                </a:solidFill>
                <a:latin typeface="Calibri" pitchFamily="34" charset="0"/>
                <a:ea typeface="Calibri" pitchFamily="34" charset="-122"/>
                <a:cs typeface="Calibri" pitchFamily="34" charset="-120"/>
              </a:rPr>
              <a:t>Assignment brief lists "India-first: tuned for local languages, accents &amp; workflows" as a key moat. None of the screenshots show this mentioned anywhere on the homepage. Hero copy, feature grid, and all CTAs are entirely generic — no Hindi, Hinglish, Tamil, regional accents, or Indian enterprise use cases.</a:t>
            </a:r>
            <a:endParaRPr lang="en-US" sz="1100" dirty="0"/>
          </a:p>
        </p:txBody>
      </p:sp>
      <p:sp>
        <p:nvSpPr>
          <p:cNvPr id="11" name="Shape 9"/>
          <p:cNvSpPr/>
          <p:nvPr/>
        </p:nvSpPr>
        <p:spPr>
          <a:xfrm>
            <a:off x="3310128" y="1261872"/>
            <a:ext cx="2816352" cy="3017520"/>
          </a:xfrm>
          <a:prstGeom prst="rect">
            <a:avLst/>
          </a:prstGeom>
          <a:solidFill>
            <a:srgbClr val="1A2B40"/>
          </a:solidFill>
          <a:ln w="12700">
            <a:solidFill>
              <a:srgbClr val="E8445A"/>
            </a:solidFill>
            <a:prstDash val="solid"/>
          </a:ln>
        </p:spPr>
      </p:sp>
      <p:sp>
        <p:nvSpPr>
          <p:cNvPr id="12" name="Shape 10"/>
          <p:cNvSpPr/>
          <p:nvPr/>
        </p:nvSpPr>
        <p:spPr>
          <a:xfrm>
            <a:off x="3310128" y="1261872"/>
            <a:ext cx="2816352" cy="237744"/>
          </a:xfrm>
          <a:prstGeom prst="rect">
            <a:avLst/>
          </a:prstGeom>
          <a:solidFill>
            <a:srgbClr val="E8445A"/>
          </a:solidFill>
          <a:ln w="12700">
            <a:solidFill>
              <a:srgbClr val="E8445A"/>
            </a:solidFill>
            <a:prstDash val="solid"/>
          </a:ln>
        </p:spPr>
      </p:sp>
      <p:sp>
        <p:nvSpPr>
          <p:cNvPr id="13" name="Text 11"/>
          <p:cNvSpPr/>
          <p:nvPr/>
        </p:nvSpPr>
        <p:spPr>
          <a:xfrm>
            <a:off x="3401568" y="1271016"/>
            <a:ext cx="2651760" cy="219456"/>
          </a:xfrm>
          <a:prstGeom prst="rect">
            <a:avLst/>
          </a:prstGeom>
          <a:noFill/>
          <a:ln/>
        </p:spPr>
        <p:txBody>
          <a:bodyPr wrap="square" lIns="0" tIns="0" rIns="0" bIns="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(b) Problem</a:t>
            </a:r>
            <a:endParaRPr lang="en-US" sz="850" dirty="0"/>
          </a:p>
        </p:txBody>
      </p:sp>
      <p:sp>
        <p:nvSpPr>
          <p:cNvPr id="14" name="Text 12"/>
          <p:cNvSpPr/>
          <p:nvPr/>
        </p:nvSpPr>
        <p:spPr>
          <a:xfrm>
            <a:off x="3401568" y="1554480"/>
            <a:ext cx="2651760" cy="2651760"/>
          </a:xfrm>
          <a:prstGeom prst="rect">
            <a:avLst/>
          </a:prstGeom>
          <a:noFill/>
          <a:ln/>
        </p:spPr>
        <p:txBody>
          <a:bodyPr wrap="square" lIns="0" tIns="0" rIns="0" bIns="0" rtlCol="0" anchor="t"/>
          <a:lstStyle/>
          <a:p>
            <a:pPr indent="0" marL="0">
              <a:buNone/>
            </a:pPr>
            <a:r>
              <a:rPr lang="en-US" sz="1100" dirty="0">
                <a:solidFill>
                  <a:srgbClr val="E8E4F0"/>
                </a:solidFill>
                <a:latin typeface="Calibri" pitchFamily="34" charset="0"/>
                <a:ea typeface="Calibri" pitchFamily="34" charset="-122"/>
                <a:cs typeface="Calibri" pitchFamily="34" charset="-120"/>
              </a:rPr>
              <a:t>Indian enterprise procurement has a go/no-go requirement: "Will this work for our customers?" VocalLabs has solved this. Retell, Vapi, Bland have NOT — they are US/English-first by architecture. This is an uncontested wedge. Yet the ICP who would buy based on this differentiator can only discover it through a sales call, not self-discovery.</a:t>
            </a:r>
            <a:endParaRPr lang="en-US" sz="1100" dirty="0"/>
          </a:p>
        </p:txBody>
      </p:sp>
      <p:sp>
        <p:nvSpPr>
          <p:cNvPr id="15" name="Shape 13"/>
          <p:cNvSpPr/>
          <p:nvPr/>
        </p:nvSpPr>
        <p:spPr>
          <a:xfrm>
            <a:off x="6254496" y="1261872"/>
            <a:ext cx="2816352" cy="3017520"/>
          </a:xfrm>
          <a:prstGeom prst="rect">
            <a:avLst/>
          </a:prstGeom>
          <a:solidFill>
            <a:srgbClr val="1A2B40"/>
          </a:solidFill>
          <a:ln w="12700">
            <a:solidFill>
              <a:srgbClr val="22C97A"/>
            </a:solidFill>
            <a:prstDash val="solid"/>
          </a:ln>
        </p:spPr>
      </p:sp>
      <p:sp>
        <p:nvSpPr>
          <p:cNvPr id="16" name="Shape 14"/>
          <p:cNvSpPr/>
          <p:nvPr/>
        </p:nvSpPr>
        <p:spPr>
          <a:xfrm>
            <a:off x="6254496" y="1261872"/>
            <a:ext cx="2816352" cy="237744"/>
          </a:xfrm>
          <a:prstGeom prst="rect">
            <a:avLst/>
          </a:prstGeom>
          <a:solidFill>
            <a:srgbClr val="22C97A"/>
          </a:solidFill>
          <a:ln w="12700">
            <a:solidFill>
              <a:srgbClr val="22C97A"/>
            </a:solidFill>
            <a:prstDash val="solid"/>
          </a:ln>
        </p:spPr>
      </p:sp>
      <p:sp>
        <p:nvSpPr>
          <p:cNvPr id="17" name="Text 15"/>
          <p:cNvSpPr/>
          <p:nvPr/>
        </p:nvSpPr>
        <p:spPr>
          <a:xfrm>
            <a:off x="6345936" y="1271016"/>
            <a:ext cx="2651760" cy="219456"/>
          </a:xfrm>
          <a:prstGeom prst="rect">
            <a:avLst/>
          </a:prstGeom>
          <a:noFill/>
          <a:ln/>
        </p:spPr>
        <p:txBody>
          <a:bodyPr wrap="square" lIns="0" tIns="0" rIns="0" bIns="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(c) Ship Instead</a:t>
            </a:r>
            <a:endParaRPr lang="en-US" sz="850" dirty="0"/>
          </a:p>
        </p:txBody>
      </p:sp>
      <p:sp>
        <p:nvSpPr>
          <p:cNvPr id="18" name="Text 16"/>
          <p:cNvSpPr/>
          <p:nvPr/>
        </p:nvSpPr>
        <p:spPr>
          <a:xfrm>
            <a:off x="6345936" y="1554480"/>
            <a:ext cx="2651760" cy="2651760"/>
          </a:xfrm>
          <a:prstGeom prst="rect">
            <a:avLst/>
          </a:prstGeom>
          <a:noFill/>
          <a:ln/>
        </p:spPr>
        <p:txBody>
          <a:bodyPr wrap="square" lIns="0" tIns="0" rIns="0" bIns="0" rtlCol="0" anchor="t"/>
          <a:lstStyle/>
          <a:p>
            <a:pPr indent="0" marL="0">
              <a:buNone/>
            </a:pPr>
            <a:r>
              <a:rPr lang="en-US" sz="1100" dirty="0">
                <a:solidFill>
                  <a:srgbClr val="E8E4F0"/>
                </a:solidFill>
                <a:latin typeface="Calibri" pitchFamily="34" charset="0"/>
                <a:ea typeface="Calibri" pitchFamily="34" charset="-122"/>
                <a:cs typeface="Calibri" pitchFamily="34" charset="-120"/>
              </a:rPr>
              <a:t>Add a dedicated "Built for India" homepage section:</a:t>
            </a:r>
            <a:endParaRPr lang="en-US" sz="1100" dirty="0"/>
          </a:p>
          <a:p>
            <a:pPr indent="0" marL="0">
              <a:buNone/>
            </a:pPr>
            <a:r>
              <a:rPr lang="en-US" sz="1100" dirty="0">
                <a:solidFill>
                  <a:srgbClr val="E8E4F0"/>
                </a:solidFill>
                <a:latin typeface="Calibri" pitchFamily="34" charset="0"/>
                <a:ea typeface="Calibri" pitchFamily="34" charset="-122"/>
                <a:cs typeface="Calibri" pitchFamily="34" charset="-120"/>
              </a:rPr>
              <a:t>→ Language support list (Hindi, Tamil, Hinglish, Bengali)</a:t>
            </a:r>
            <a:endParaRPr lang="en-US" sz="1100" dirty="0"/>
          </a:p>
          <a:p>
            <a:pPr indent="0" marL="0">
              <a:buNone/>
            </a:pPr>
            <a:r>
              <a:rPr lang="en-US" sz="1100" dirty="0">
                <a:solidFill>
                  <a:srgbClr val="E8E4F0"/>
                </a:solidFill>
                <a:latin typeface="Calibri" pitchFamily="34" charset="0"/>
                <a:ea typeface="Calibri" pitchFamily="34" charset="-122"/>
                <a:cs typeface="Calibri" pitchFamily="34" charset="-120"/>
              </a:rPr>
              <a:t>→ Indian use cases: EMI reminders, COD confirmation, clinic booking bots</a:t>
            </a:r>
            <a:endParaRPr lang="en-US" sz="1100" dirty="0"/>
          </a:p>
          <a:p>
            <a:pPr indent="0" marL="0">
              <a:buNone/>
            </a:pPr>
            <a:r>
              <a:rPr lang="en-US" sz="1100" dirty="0">
                <a:solidFill>
                  <a:srgbClr val="E8E4F0"/>
                </a:solidFill>
                <a:latin typeface="Calibri" pitchFamily="34" charset="0"/>
                <a:ea typeface="Calibri" pitchFamily="34" charset="-122"/>
                <a:cs typeface="Calibri" pitchFamily="34" charset="-120"/>
              </a:rPr>
              <a:t>→ 30s audio clip of an AI agent in a Hindi/Hinglish call</a:t>
            </a:r>
            <a:endParaRPr lang="en-US" sz="1100" dirty="0"/>
          </a:p>
          <a:p>
            <a:pPr indent="0" marL="0">
              <a:buNone/>
            </a:pPr>
            <a:endParaRPr lang="en-US" sz="1100" dirty="0"/>
          </a:p>
          <a:p>
            <a:pPr indent="0" marL="0">
              <a:buNone/>
            </a:pPr>
            <a:r>
              <a:rPr lang="en-US" sz="1100" dirty="0">
                <a:solidFill>
                  <a:srgbClr val="E8E4F0"/>
                </a:solidFill>
                <a:latin typeface="Calibri" pitchFamily="34" charset="0"/>
                <a:ea typeface="Calibri" pitchFamily="34" charset="-122"/>
                <a:cs typeface="Calibri" pitchFamily="34" charset="-120"/>
              </a:rPr>
              <a:t>Launch India-specific GTM targeting Indian BPOs, D2C brands (Meesho, Zepto), and BFSI.</a:t>
            </a:r>
            <a:endParaRPr lang="en-US" sz="1100" dirty="0"/>
          </a:p>
        </p:txBody>
      </p:sp>
      <p:sp>
        <p:nvSpPr>
          <p:cNvPr id="19" name="Text 17"/>
          <p:cNvSpPr/>
          <p:nvPr/>
        </p:nvSpPr>
        <p:spPr>
          <a:xfrm>
            <a:off x="365760" y="4407408"/>
            <a:ext cx="1828800" cy="228600"/>
          </a:xfrm>
          <a:prstGeom prst="rect">
            <a:avLst/>
          </a:prstGeom>
          <a:noFill/>
          <a:ln/>
        </p:spPr>
        <p:txBody>
          <a:bodyPr wrap="square" lIns="0" tIns="0" rIns="0" bIns="0" rtlCol="0" anchor="ctr"/>
          <a:lstStyle/>
          <a:p>
            <a:pPr indent="0" marL="0">
              <a:buNone/>
            </a:pPr>
            <a:r>
              <a:rPr lang="en-US" sz="800" b="1" spc="100" kern="0" dirty="0">
                <a:solidFill>
                  <a:srgbClr val="8B8FA8"/>
                </a:solidFill>
                <a:latin typeface="Calibri" pitchFamily="34" charset="0"/>
                <a:ea typeface="Calibri" pitchFamily="34" charset="-122"/>
                <a:cs typeface="Calibri" pitchFamily="34" charset="-120"/>
              </a:rPr>
              <a:t>EXPECTED IMPACT:</a:t>
            </a:r>
            <a:endParaRPr lang="en-US" sz="800" dirty="0"/>
          </a:p>
        </p:txBody>
      </p:sp>
      <p:sp>
        <p:nvSpPr>
          <p:cNvPr id="20" name="Shape 18"/>
          <p:cNvSpPr/>
          <p:nvPr/>
        </p:nvSpPr>
        <p:spPr>
          <a:xfrm>
            <a:off x="1737360" y="4407408"/>
            <a:ext cx="2240280" cy="237744"/>
          </a:xfrm>
          <a:prstGeom prst="rect">
            <a:avLst/>
          </a:prstGeom>
          <a:solidFill>
            <a:srgbClr val="0A2E1C"/>
          </a:solidFill>
          <a:ln w="9525">
            <a:solidFill>
              <a:srgbClr val="22C97A"/>
            </a:solidFill>
            <a:prstDash val="solid"/>
          </a:ln>
        </p:spPr>
      </p:sp>
      <p:sp>
        <p:nvSpPr>
          <p:cNvPr id="21" name="Text 19"/>
          <p:cNvSpPr/>
          <p:nvPr/>
        </p:nvSpPr>
        <p:spPr>
          <a:xfrm>
            <a:off x="1810512" y="4425696"/>
            <a:ext cx="2130552" cy="201168"/>
          </a:xfrm>
          <a:prstGeom prst="rect">
            <a:avLst/>
          </a:prstGeom>
          <a:noFill/>
          <a:ln/>
        </p:spPr>
        <p:txBody>
          <a:bodyPr wrap="square" lIns="0" tIns="0" rIns="0" bIns="0" rtlCol="0" anchor="ctr"/>
          <a:lstStyle/>
          <a:p>
            <a:pPr indent="0" marL="0">
              <a:buNone/>
            </a:pPr>
            <a:r>
              <a:rPr lang="en-US" sz="900" dirty="0">
                <a:solidFill>
                  <a:srgbClr val="22C97A"/>
                </a:solidFill>
                <a:latin typeface="Calibri" pitchFamily="34" charset="0"/>
                <a:ea typeface="Calibri" pitchFamily="34" charset="-122"/>
                <a:cs typeface="Calibri" pitchFamily="34" charset="-120"/>
              </a:rPr>
              <a:t>Uncontested India segment</a:t>
            </a:r>
            <a:endParaRPr lang="en-US" sz="900" dirty="0"/>
          </a:p>
        </p:txBody>
      </p:sp>
      <p:sp>
        <p:nvSpPr>
          <p:cNvPr id="22" name="Shape 20"/>
          <p:cNvSpPr/>
          <p:nvPr/>
        </p:nvSpPr>
        <p:spPr>
          <a:xfrm>
            <a:off x="4087368" y="4407408"/>
            <a:ext cx="2401214" cy="237744"/>
          </a:xfrm>
          <a:prstGeom prst="rect">
            <a:avLst/>
          </a:prstGeom>
          <a:solidFill>
            <a:srgbClr val="0A2E1C"/>
          </a:solidFill>
          <a:ln w="9525">
            <a:solidFill>
              <a:srgbClr val="22C97A"/>
            </a:solidFill>
            <a:prstDash val="solid"/>
          </a:ln>
        </p:spPr>
      </p:sp>
      <p:sp>
        <p:nvSpPr>
          <p:cNvPr id="23" name="Text 21"/>
          <p:cNvSpPr/>
          <p:nvPr/>
        </p:nvSpPr>
        <p:spPr>
          <a:xfrm>
            <a:off x="4160520" y="4425696"/>
            <a:ext cx="2291486" cy="201168"/>
          </a:xfrm>
          <a:prstGeom prst="rect">
            <a:avLst/>
          </a:prstGeom>
          <a:noFill/>
          <a:ln/>
        </p:spPr>
        <p:txBody>
          <a:bodyPr wrap="square" lIns="0" tIns="0" rIns="0" bIns="0" rtlCol="0" anchor="ctr"/>
          <a:lstStyle/>
          <a:p>
            <a:pPr indent="0" marL="0">
              <a:buNone/>
            </a:pPr>
            <a:r>
              <a:rPr lang="en-US" sz="900" dirty="0">
                <a:solidFill>
                  <a:srgbClr val="22C97A"/>
                </a:solidFill>
                <a:latin typeface="Calibri" pitchFamily="34" charset="0"/>
                <a:ea typeface="Calibri" pitchFamily="34" charset="-122"/>
                <a:cs typeface="Calibri" pitchFamily="34" charset="-120"/>
              </a:rPr>
              <a:t>ICP clarity → conversion up</a:t>
            </a:r>
            <a:endParaRPr lang="en-US" sz="900" dirty="0"/>
          </a:p>
        </p:txBody>
      </p:sp>
      <p:sp>
        <p:nvSpPr>
          <p:cNvPr id="24" name="Shape 22"/>
          <p:cNvSpPr/>
          <p:nvPr/>
        </p:nvSpPr>
        <p:spPr>
          <a:xfrm>
            <a:off x="6598310" y="4407408"/>
            <a:ext cx="2481682" cy="237744"/>
          </a:xfrm>
          <a:prstGeom prst="rect">
            <a:avLst/>
          </a:prstGeom>
          <a:solidFill>
            <a:srgbClr val="2E1E00"/>
          </a:solidFill>
          <a:ln w="9525">
            <a:solidFill>
              <a:srgbClr val="F5A623"/>
            </a:solidFill>
            <a:prstDash val="solid"/>
          </a:ln>
        </p:spPr>
      </p:sp>
      <p:sp>
        <p:nvSpPr>
          <p:cNvPr id="25" name="Text 23"/>
          <p:cNvSpPr/>
          <p:nvPr/>
        </p:nvSpPr>
        <p:spPr>
          <a:xfrm>
            <a:off x="6671462" y="4425696"/>
            <a:ext cx="2371954" cy="201168"/>
          </a:xfrm>
          <a:prstGeom prst="rect">
            <a:avLst/>
          </a:prstGeom>
          <a:noFill/>
          <a:ln/>
        </p:spPr>
        <p:txBody>
          <a:bodyPr wrap="square" lIns="0" tIns="0" rIns="0" bIns="0" rtlCol="0" anchor="ctr"/>
          <a:lstStyle/>
          <a:p>
            <a:pPr indent="0" marL="0">
              <a:buNone/>
            </a:pPr>
            <a:r>
              <a:rPr lang="en-US" sz="900" dirty="0">
                <a:solidFill>
                  <a:srgbClr val="F5A623"/>
                </a:solidFill>
                <a:latin typeface="Calibri" pitchFamily="34" charset="0"/>
                <a:ea typeface="Calibri" pitchFamily="34" charset="-122"/>
                <a:cs typeface="Calibri" pitchFamily="34" charset="-120"/>
              </a:rPr>
              <a:t>India SEO ("Hindi voice AI")</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3FFF"/>
          </a:solidFill>
          <a:ln w="12700">
            <a:solidFill>
              <a:srgbClr val="6C3FFF"/>
            </a:solidFill>
            <a:prstDash val="solid"/>
          </a:ln>
        </p:spPr>
      </p:sp>
      <p:sp>
        <p:nvSpPr>
          <p:cNvPr id="3" name="Text 1"/>
          <p:cNvSpPr/>
          <p:nvPr/>
        </p:nvSpPr>
        <p:spPr>
          <a:xfrm>
            <a:off x="365760" y="228600"/>
            <a:ext cx="640080" cy="347472"/>
          </a:xfrm>
          <a:prstGeom prst="rect">
            <a:avLst/>
          </a:prstGeom>
          <a:noFill/>
          <a:ln/>
        </p:spPr>
        <p:txBody>
          <a:bodyPr wrap="square" lIns="0" tIns="0" rIns="0" bIns="0" rtlCol="0" anchor="ctr"/>
          <a:lstStyle/>
          <a:p>
            <a:pPr indent="0" marL="0">
              <a:buNone/>
            </a:pPr>
            <a:r>
              <a:rPr lang="en-US" sz="1100" b="1" dirty="0">
                <a:solidFill>
                  <a:srgbClr val="6C3FFF"/>
                </a:solidFill>
                <a:latin typeface="Calibri" pitchFamily="34" charset="0"/>
                <a:ea typeface="Calibri" pitchFamily="34" charset="-122"/>
                <a:cs typeface="Calibri" pitchFamily="34" charset="-120"/>
              </a:rPr>
              <a:t>07</a:t>
            </a:r>
            <a:endParaRPr lang="en-US" sz="1100" dirty="0"/>
          </a:p>
        </p:txBody>
      </p:sp>
      <p:sp>
        <p:nvSpPr>
          <p:cNvPr id="4" name="Shape 2"/>
          <p:cNvSpPr/>
          <p:nvPr/>
        </p:nvSpPr>
        <p:spPr>
          <a:xfrm>
            <a:off x="822960" y="256032"/>
            <a:ext cx="1554480" cy="274320"/>
          </a:xfrm>
          <a:prstGeom prst="rect">
            <a:avLst/>
          </a:prstGeom>
          <a:solidFill>
            <a:srgbClr val="1E1040"/>
          </a:solidFill>
          <a:ln w="9525">
            <a:solidFill>
              <a:srgbClr val="6C3FFF"/>
            </a:solidFill>
            <a:prstDash val="solid"/>
          </a:ln>
        </p:spPr>
      </p:sp>
      <p:sp>
        <p:nvSpPr>
          <p:cNvPr id="5" name="Text 3"/>
          <p:cNvSpPr/>
          <p:nvPr/>
        </p:nvSpPr>
        <p:spPr>
          <a:xfrm>
            <a:off x="868680" y="274320"/>
            <a:ext cx="1463040" cy="237744"/>
          </a:xfrm>
          <a:prstGeom prst="rect">
            <a:avLst/>
          </a:prstGeom>
          <a:noFill/>
          <a:ln/>
        </p:spPr>
        <p:txBody>
          <a:bodyPr wrap="square" lIns="0" tIns="0" rIns="0" bIns="0" rtlCol="0" anchor="ctr"/>
          <a:lstStyle/>
          <a:p>
            <a:pPr indent="0" marL="0">
              <a:buNone/>
            </a:pPr>
            <a:r>
              <a:rPr lang="en-US" sz="800" b="1" spc="100" kern="0" dirty="0">
                <a:solidFill>
                  <a:srgbClr val="9B72FF"/>
                </a:solidFill>
                <a:latin typeface="Calibri" pitchFamily="34" charset="0"/>
                <a:ea typeface="Calibri" pitchFamily="34" charset="-122"/>
                <a:cs typeface="Calibri" pitchFamily="34" charset="-120"/>
              </a:rPr>
              <a:t>ONBOARDING · DEVELOPER EXPERIENCE</a:t>
            </a:r>
            <a:endParaRPr lang="en-US" sz="800" dirty="0"/>
          </a:p>
        </p:txBody>
      </p:sp>
      <p:sp>
        <p:nvSpPr>
          <p:cNvPr id="6" name="Text 4"/>
          <p:cNvSpPr/>
          <p:nvPr/>
        </p:nvSpPr>
        <p:spPr>
          <a:xfrm>
            <a:off x="365760" y="566928"/>
            <a:ext cx="8412480" cy="59436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No sandbox = developer word-of-mouth dead on arrival</a:t>
            </a:r>
            <a:endParaRPr lang="en-US" sz="1900" dirty="0"/>
          </a:p>
        </p:txBody>
      </p:sp>
      <p:sp>
        <p:nvSpPr>
          <p:cNvPr id="7" name="Shape 5"/>
          <p:cNvSpPr/>
          <p:nvPr/>
        </p:nvSpPr>
        <p:spPr>
          <a:xfrm>
            <a:off x="365760" y="1261872"/>
            <a:ext cx="2816352" cy="3017520"/>
          </a:xfrm>
          <a:prstGeom prst="rect">
            <a:avLst/>
          </a:prstGeom>
          <a:solidFill>
            <a:srgbClr val="1A2B40"/>
          </a:solidFill>
          <a:ln w="12700">
            <a:solidFill>
              <a:srgbClr val="F5A623"/>
            </a:solidFill>
            <a:prstDash val="solid"/>
          </a:ln>
        </p:spPr>
      </p:sp>
      <p:sp>
        <p:nvSpPr>
          <p:cNvPr id="8" name="Shape 6"/>
          <p:cNvSpPr/>
          <p:nvPr/>
        </p:nvSpPr>
        <p:spPr>
          <a:xfrm>
            <a:off x="365760" y="1261872"/>
            <a:ext cx="2816352" cy="237744"/>
          </a:xfrm>
          <a:prstGeom prst="rect">
            <a:avLst/>
          </a:prstGeom>
          <a:solidFill>
            <a:srgbClr val="F5A623"/>
          </a:solidFill>
          <a:ln w="12700">
            <a:solidFill>
              <a:srgbClr val="F5A623"/>
            </a:solidFill>
            <a:prstDash val="solid"/>
          </a:ln>
        </p:spPr>
      </p:sp>
      <p:sp>
        <p:nvSpPr>
          <p:cNvPr id="9" name="Text 7"/>
          <p:cNvSpPr/>
          <p:nvPr/>
        </p:nvSpPr>
        <p:spPr>
          <a:xfrm>
            <a:off x="457200" y="1271016"/>
            <a:ext cx="2651760" cy="219456"/>
          </a:xfrm>
          <a:prstGeom prst="rect">
            <a:avLst/>
          </a:prstGeom>
          <a:noFill/>
          <a:ln/>
        </p:spPr>
        <p:txBody>
          <a:bodyPr wrap="square" lIns="0" tIns="0" rIns="0" bIns="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(a) Observed</a:t>
            </a:r>
            <a:endParaRPr lang="en-US" sz="850" dirty="0"/>
          </a:p>
        </p:txBody>
      </p:sp>
      <p:sp>
        <p:nvSpPr>
          <p:cNvPr id="10" name="Text 8"/>
          <p:cNvSpPr/>
          <p:nvPr/>
        </p:nvSpPr>
        <p:spPr>
          <a:xfrm>
            <a:off x="457200" y="1554480"/>
            <a:ext cx="2651760" cy="2651760"/>
          </a:xfrm>
          <a:prstGeom prst="rect">
            <a:avLst/>
          </a:prstGeom>
          <a:noFill/>
          <a:ln/>
        </p:spPr>
        <p:txBody>
          <a:bodyPr wrap="square" lIns="0" tIns="0" rIns="0" bIns="0" rtlCol="0" anchor="t"/>
          <a:lstStyle/>
          <a:p>
            <a:pPr indent="0" marL="0">
              <a:buNone/>
            </a:pPr>
            <a:r>
              <a:rPr lang="en-US" sz="1100" dirty="0">
                <a:solidFill>
                  <a:srgbClr val="E8E4F0"/>
                </a:solidFill>
                <a:latin typeface="Calibri" pitchFamily="34" charset="0"/>
                <a:ea typeface="Calibri" pitchFamily="34" charset="-122"/>
                <a:cs typeface="Calibri" pitchFamily="34" charset="-120"/>
              </a:rPr>
              <a:t>Nav shows: Home / Solutions / Industries / About Us / Docs / Blogs / Careers. No Playground, Try it, or Sandbox visible anywhere. "GET STARTED · 2 mins" implies self-serve but routes to a contact/qualification form. Docs exist but are passive without an API key. Sales-led onboarding directly contradicts "Ship in Hours, Not Months" messaging.</a:t>
            </a:r>
            <a:endParaRPr lang="en-US" sz="1100" dirty="0"/>
          </a:p>
        </p:txBody>
      </p:sp>
      <p:sp>
        <p:nvSpPr>
          <p:cNvPr id="11" name="Shape 9"/>
          <p:cNvSpPr/>
          <p:nvPr/>
        </p:nvSpPr>
        <p:spPr>
          <a:xfrm>
            <a:off x="3310128" y="1261872"/>
            <a:ext cx="2816352" cy="3017520"/>
          </a:xfrm>
          <a:prstGeom prst="rect">
            <a:avLst/>
          </a:prstGeom>
          <a:solidFill>
            <a:srgbClr val="1A2B40"/>
          </a:solidFill>
          <a:ln w="12700">
            <a:solidFill>
              <a:srgbClr val="E8445A"/>
            </a:solidFill>
            <a:prstDash val="solid"/>
          </a:ln>
        </p:spPr>
      </p:sp>
      <p:sp>
        <p:nvSpPr>
          <p:cNvPr id="12" name="Shape 10"/>
          <p:cNvSpPr/>
          <p:nvPr/>
        </p:nvSpPr>
        <p:spPr>
          <a:xfrm>
            <a:off x="3310128" y="1261872"/>
            <a:ext cx="2816352" cy="237744"/>
          </a:xfrm>
          <a:prstGeom prst="rect">
            <a:avLst/>
          </a:prstGeom>
          <a:solidFill>
            <a:srgbClr val="E8445A"/>
          </a:solidFill>
          <a:ln w="12700">
            <a:solidFill>
              <a:srgbClr val="E8445A"/>
            </a:solidFill>
            <a:prstDash val="solid"/>
          </a:ln>
        </p:spPr>
      </p:sp>
      <p:sp>
        <p:nvSpPr>
          <p:cNvPr id="13" name="Text 11"/>
          <p:cNvSpPr/>
          <p:nvPr/>
        </p:nvSpPr>
        <p:spPr>
          <a:xfrm>
            <a:off x="3401568" y="1271016"/>
            <a:ext cx="2651760" cy="219456"/>
          </a:xfrm>
          <a:prstGeom prst="rect">
            <a:avLst/>
          </a:prstGeom>
          <a:noFill/>
          <a:ln/>
        </p:spPr>
        <p:txBody>
          <a:bodyPr wrap="square" lIns="0" tIns="0" rIns="0" bIns="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(b) Problem</a:t>
            </a:r>
            <a:endParaRPr lang="en-US" sz="850" dirty="0"/>
          </a:p>
        </p:txBody>
      </p:sp>
      <p:sp>
        <p:nvSpPr>
          <p:cNvPr id="14" name="Text 12"/>
          <p:cNvSpPr/>
          <p:nvPr/>
        </p:nvSpPr>
        <p:spPr>
          <a:xfrm>
            <a:off x="3401568" y="1554480"/>
            <a:ext cx="2651760" cy="2651760"/>
          </a:xfrm>
          <a:prstGeom prst="rect">
            <a:avLst/>
          </a:prstGeom>
          <a:noFill/>
          <a:ln/>
        </p:spPr>
        <p:txBody>
          <a:bodyPr wrap="square" lIns="0" tIns="0" rIns="0" bIns="0" rtlCol="0" anchor="t"/>
          <a:lstStyle/>
          <a:p>
            <a:pPr indent="0" marL="0">
              <a:buNone/>
            </a:pPr>
            <a:r>
              <a:rPr lang="en-US" sz="1100" dirty="0">
                <a:solidFill>
                  <a:srgbClr val="E8E4F0"/>
                </a:solidFill>
                <a:latin typeface="Calibri" pitchFamily="34" charset="0"/>
                <a:ea typeface="Calibri" pitchFamily="34" charset="-122"/>
                <a:cs typeface="Calibri" pitchFamily="34" charset="-120"/>
              </a:rPr>
              <a:t>Developer-led growth in infra is driven entirely by sandbox-to-activation conversion. Stripe, Twilio, Retell, Vapi all generate word-of-mouth from the moment a developer makes their first working API call without speaking to sales. VocalLabs positions for developers but offers zero self-serve path — this prevents the PLG flywheel from ever starting.</a:t>
            </a:r>
            <a:endParaRPr lang="en-US" sz="1100" dirty="0"/>
          </a:p>
        </p:txBody>
      </p:sp>
      <p:sp>
        <p:nvSpPr>
          <p:cNvPr id="15" name="Shape 13"/>
          <p:cNvSpPr/>
          <p:nvPr/>
        </p:nvSpPr>
        <p:spPr>
          <a:xfrm>
            <a:off x="6254496" y="1261872"/>
            <a:ext cx="2816352" cy="3017520"/>
          </a:xfrm>
          <a:prstGeom prst="rect">
            <a:avLst/>
          </a:prstGeom>
          <a:solidFill>
            <a:srgbClr val="1A2B40"/>
          </a:solidFill>
          <a:ln w="12700">
            <a:solidFill>
              <a:srgbClr val="22C97A"/>
            </a:solidFill>
            <a:prstDash val="solid"/>
          </a:ln>
        </p:spPr>
      </p:sp>
      <p:sp>
        <p:nvSpPr>
          <p:cNvPr id="16" name="Shape 14"/>
          <p:cNvSpPr/>
          <p:nvPr/>
        </p:nvSpPr>
        <p:spPr>
          <a:xfrm>
            <a:off x="6254496" y="1261872"/>
            <a:ext cx="2816352" cy="237744"/>
          </a:xfrm>
          <a:prstGeom prst="rect">
            <a:avLst/>
          </a:prstGeom>
          <a:solidFill>
            <a:srgbClr val="22C97A"/>
          </a:solidFill>
          <a:ln w="12700">
            <a:solidFill>
              <a:srgbClr val="22C97A"/>
            </a:solidFill>
            <a:prstDash val="solid"/>
          </a:ln>
        </p:spPr>
      </p:sp>
      <p:sp>
        <p:nvSpPr>
          <p:cNvPr id="17" name="Text 15"/>
          <p:cNvSpPr/>
          <p:nvPr/>
        </p:nvSpPr>
        <p:spPr>
          <a:xfrm>
            <a:off x="6345936" y="1271016"/>
            <a:ext cx="2651760" cy="219456"/>
          </a:xfrm>
          <a:prstGeom prst="rect">
            <a:avLst/>
          </a:prstGeom>
          <a:noFill/>
          <a:ln/>
        </p:spPr>
        <p:txBody>
          <a:bodyPr wrap="square" lIns="0" tIns="0" rIns="0" bIns="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(c) Ship Instead</a:t>
            </a:r>
            <a:endParaRPr lang="en-US" sz="850" dirty="0"/>
          </a:p>
        </p:txBody>
      </p:sp>
      <p:sp>
        <p:nvSpPr>
          <p:cNvPr id="18" name="Text 16"/>
          <p:cNvSpPr/>
          <p:nvPr/>
        </p:nvSpPr>
        <p:spPr>
          <a:xfrm>
            <a:off x="6345936" y="1554480"/>
            <a:ext cx="2651760" cy="2651760"/>
          </a:xfrm>
          <a:prstGeom prst="rect">
            <a:avLst/>
          </a:prstGeom>
          <a:noFill/>
          <a:ln/>
        </p:spPr>
        <p:txBody>
          <a:bodyPr wrap="square" lIns="0" tIns="0" rIns="0" bIns="0" rtlCol="0" anchor="t"/>
          <a:lstStyle/>
          <a:p>
            <a:pPr indent="0" marL="0">
              <a:buNone/>
            </a:pPr>
            <a:r>
              <a:rPr lang="en-US" sz="1100" dirty="0">
                <a:solidFill>
                  <a:srgbClr val="E8E4F0"/>
                </a:solidFill>
                <a:latin typeface="Calibri" pitchFamily="34" charset="0"/>
                <a:ea typeface="Calibri" pitchFamily="34" charset="-122"/>
                <a:cs typeface="Calibri" pitchFamily="34" charset="-120"/>
              </a:rPr>
              <a:t>Free-tier sandbox with API key on email verification only — no form, no sales call:</a:t>
            </a:r>
            <a:endParaRPr lang="en-US" sz="1100" dirty="0"/>
          </a:p>
          <a:p>
            <a:pPr indent="0" marL="0">
              <a:buNone/>
            </a:pPr>
            <a:r>
              <a:rPr lang="en-US" sz="1100" dirty="0">
                <a:solidFill>
                  <a:srgbClr val="E8E4F0"/>
                </a:solidFill>
                <a:latin typeface="Calibri" pitchFamily="34" charset="0"/>
                <a:ea typeface="Calibri" pitchFamily="34" charset="-122"/>
                <a:cs typeface="Calibri" pitchFamily="34" charset="-120"/>
              </a:rPr>
              <a:t>→ Limits: 100 call minutes free, 1 concurrent call, 5 calls/day</a:t>
            </a:r>
            <a:endParaRPr lang="en-US" sz="1100" dirty="0"/>
          </a:p>
          <a:p>
            <a:pPr indent="0" marL="0">
              <a:buNone/>
            </a:pPr>
            <a:r>
              <a:rPr lang="en-US" sz="1100" dirty="0">
                <a:solidFill>
                  <a:srgbClr val="E8E4F0"/>
                </a:solidFill>
                <a:latin typeface="Calibri" pitchFamily="34" charset="0"/>
                <a:ea typeface="Calibri" pitchFamily="34" charset="-122"/>
                <a:cs typeface="Calibri" pitchFamily="34" charset="-120"/>
              </a:rPr>
              <a:t>→ Browser API playground in docs: paste phone number, pick voice/language, product calls you in 60s</a:t>
            </a:r>
            <a:endParaRPr lang="en-US" sz="1100" dirty="0"/>
          </a:p>
          <a:p>
            <a:pPr indent="0" marL="0">
              <a:buNone/>
            </a:pPr>
            <a:endParaRPr lang="en-US" sz="1100" dirty="0"/>
          </a:p>
          <a:p>
            <a:pPr indent="0" marL="0">
              <a:buNone/>
            </a:pPr>
            <a:r>
              <a:rPr lang="en-US" sz="1100" dirty="0">
                <a:solidFill>
                  <a:srgbClr val="E8E4F0"/>
                </a:solidFill>
                <a:latin typeface="Calibri" pitchFamily="34" charset="0"/>
                <a:ea typeface="Calibri" pitchFamily="34" charset="-122"/>
                <a:cs typeface="Calibri" pitchFamily="34" charset="-120"/>
              </a:rPr>
              <a:t>Tradeoff: Free telephony has real marginal cost — cap aggressively to protect margin.</a:t>
            </a:r>
            <a:endParaRPr lang="en-US" sz="1100" dirty="0"/>
          </a:p>
        </p:txBody>
      </p:sp>
      <p:sp>
        <p:nvSpPr>
          <p:cNvPr id="19" name="Text 17"/>
          <p:cNvSpPr/>
          <p:nvPr/>
        </p:nvSpPr>
        <p:spPr>
          <a:xfrm>
            <a:off x="365760" y="4407408"/>
            <a:ext cx="1828800" cy="228600"/>
          </a:xfrm>
          <a:prstGeom prst="rect">
            <a:avLst/>
          </a:prstGeom>
          <a:noFill/>
          <a:ln/>
        </p:spPr>
        <p:txBody>
          <a:bodyPr wrap="square" lIns="0" tIns="0" rIns="0" bIns="0" rtlCol="0" anchor="ctr"/>
          <a:lstStyle/>
          <a:p>
            <a:pPr indent="0" marL="0">
              <a:buNone/>
            </a:pPr>
            <a:r>
              <a:rPr lang="en-US" sz="800" b="1" spc="100" kern="0" dirty="0">
                <a:solidFill>
                  <a:srgbClr val="8B8FA8"/>
                </a:solidFill>
                <a:latin typeface="Calibri" pitchFamily="34" charset="0"/>
                <a:ea typeface="Calibri" pitchFamily="34" charset="-122"/>
                <a:cs typeface="Calibri" pitchFamily="34" charset="-120"/>
              </a:rPr>
              <a:t>EXPECTED IMPACT:</a:t>
            </a:r>
            <a:endParaRPr lang="en-US" sz="800" dirty="0"/>
          </a:p>
        </p:txBody>
      </p:sp>
      <p:sp>
        <p:nvSpPr>
          <p:cNvPr id="20" name="Shape 18"/>
          <p:cNvSpPr/>
          <p:nvPr/>
        </p:nvSpPr>
        <p:spPr>
          <a:xfrm>
            <a:off x="1737360" y="4407408"/>
            <a:ext cx="2642616" cy="237744"/>
          </a:xfrm>
          <a:prstGeom prst="rect">
            <a:avLst/>
          </a:prstGeom>
          <a:solidFill>
            <a:srgbClr val="0A2E1C"/>
          </a:solidFill>
          <a:ln w="9525">
            <a:solidFill>
              <a:srgbClr val="22C97A"/>
            </a:solidFill>
            <a:prstDash val="solid"/>
          </a:ln>
        </p:spPr>
      </p:sp>
      <p:sp>
        <p:nvSpPr>
          <p:cNvPr id="21" name="Text 19"/>
          <p:cNvSpPr/>
          <p:nvPr/>
        </p:nvSpPr>
        <p:spPr>
          <a:xfrm>
            <a:off x="1810512" y="4425696"/>
            <a:ext cx="2532888" cy="201168"/>
          </a:xfrm>
          <a:prstGeom prst="rect">
            <a:avLst/>
          </a:prstGeom>
          <a:noFill/>
          <a:ln/>
        </p:spPr>
        <p:txBody>
          <a:bodyPr wrap="square" lIns="0" tIns="0" rIns="0" bIns="0" rtlCol="0" anchor="ctr"/>
          <a:lstStyle/>
          <a:p>
            <a:pPr indent="0" marL="0">
              <a:buNone/>
            </a:pPr>
            <a:r>
              <a:rPr lang="en-US" sz="900" dirty="0">
                <a:solidFill>
                  <a:srgbClr val="22C97A"/>
                </a:solidFill>
                <a:latin typeface="Calibri" pitchFamily="34" charset="0"/>
                <a:ea typeface="Calibri" pitchFamily="34" charset="-122"/>
                <a:cs typeface="Calibri" pitchFamily="34" charset="-120"/>
              </a:rPr>
              <a:t>Developer activation from zero</a:t>
            </a:r>
            <a:endParaRPr lang="en-US" sz="900" dirty="0"/>
          </a:p>
        </p:txBody>
      </p:sp>
      <p:sp>
        <p:nvSpPr>
          <p:cNvPr id="22" name="Shape 20"/>
          <p:cNvSpPr/>
          <p:nvPr/>
        </p:nvSpPr>
        <p:spPr>
          <a:xfrm>
            <a:off x="4489704" y="4407408"/>
            <a:ext cx="1998878" cy="237744"/>
          </a:xfrm>
          <a:prstGeom prst="rect">
            <a:avLst/>
          </a:prstGeom>
          <a:solidFill>
            <a:srgbClr val="0A2E1C"/>
          </a:solidFill>
          <a:ln w="9525">
            <a:solidFill>
              <a:srgbClr val="22C97A"/>
            </a:solidFill>
            <a:prstDash val="solid"/>
          </a:ln>
        </p:spPr>
      </p:sp>
      <p:sp>
        <p:nvSpPr>
          <p:cNvPr id="23" name="Text 21"/>
          <p:cNvSpPr/>
          <p:nvPr/>
        </p:nvSpPr>
        <p:spPr>
          <a:xfrm>
            <a:off x="4562856" y="4425696"/>
            <a:ext cx="1889150" cy="201168"/>
          </a:xfrm>
          <a:prstGeom prst="rect">
            <a:avLst/>
          </a:prstGeom>
          <a:noFill/>
          <a:ln/>
        </p:spPr>
        <p:txBody>
          <a:bodyPr wrap="square" lIns="0" tIns="0" rIns="0" bIns="0" rtlCol="0" anchor="ctr"/>
          <a:lstStyle/>
          <a:p>
            <a:pPr indent="0" marL="0">
              <a:buNone/>
            </a:pPr>
            <a:r>
              <a:rPr lang="en-US" sz="900" dirty="0">
                <a:solidFill>
                  <a:srgbClr val="22C97A"/>
                </a:solidFill>
                <a:latin typeface="Calibri" pitchFamily="34" charset="0"/>
                <a:ea typeface="Calibri" pitchFamily="34" charset="-122"/>
                <a:cs typeface="Calibri" pitchFamily="34" charset="-120"/>
              </a:rPr>
              <a:t>PLG flywheel initiated</a:t>
            </a:r>
            <a:endParaRPr lang="en-US" sz="900" dirty="0"/>
          </a:p>
        </p:txBody>
      </p:sp>
      <p:sp>
        <p:nvSpPr>
          <p:cNvPr id="24" name="Shape 22"/>
          <p:cNvSpPr/>
          <p:nvPr/>
        </p:nvSpPr>
        <p:spPr>
          <a:xfrm>
            <a:off x="6598310" y="4407408"/>
            <a:ext cx="3930091" cy="237744"/>
          </a:xfrm>
          <a:prstGeom prst="rect">
            <a:avLst/>
          </a:prstGeom>
          <a:solidFill>
            <a:srgbClr val="2E1E00"/>
          </a:solidFill>
          <a:ln w="9525">
            <a:solidFill>
              <a:srgbClr val="F5A623"/>
            </a:solidFill>
            <a:prstDash val="solid"/>
          </a:ln>
        </p:spPr>
      </p:sp>
      <p:sp>
        <p:nvSpPr>
          <p:cNvPr id="25" name="Text 23"/>
          <p:cNvSpPr/>
          <p:nvPr/>
        </p:nvSpPr>
        <p:spPr>
          <a:xfrm>
            <a:off x="6671462" y="4425696"/>
            <a:ext cx="3820363" cy="201168"/>
          </a:xfrm>
          <a:prstGeom prst="rect">
            <a:avLst/>
          </a:prstGeom>
          <a:noFill/>
          <a:ln/>
        </p:spPr>
        <p:txBody>
          <a:bodyPr wrap="square" lIns="0" tIns="0" rIns="0" bIns="0" rtlCol="0" anchor="ctr"/>
          <a:lstStyle/>
          <a:p>
            <a:pPr indent="0" marL="0">
              <a:buNone/>
            </a:pPr>
            <a:r>
              <a:rPr lang="en-US" sz="900" dirty="0">
                <a:solidFill>
                  <a:srgbClr val="F5A623"/>
                </a:solidFill>
                <a:latin typeface="Calibri" pitchFamily="34" charset="0"/>
                <a:ea typeface="Calibri" pitchFamily="34" charset="-122"/>
                <a:cs typeface="Calibri" pitchFamily="34" charset="-120"/>
              </a:rPr>
              <a:t>Pipeline quality up (warmer enterprise buyers)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3FFF"/>
          </a:solidFill>
          <a:ln w="12700">
            <a:solidFill>
              <a:srgbClr val="6C3FFF"/>
            </a:solidFill>
            <a:prstDash val="solid"/>
          </a:ln>
        </p:spPr>
      </p:sp>
      <p:sp>
        <p:nvSpPr>
          <p:cNvPr id="3" name="Text 1"/>
          <p:cNvSpPr/>
          <p:nvPr/>
        </p:nvSpPr>
        <p:spPr>
          <a:xfrm>
            <a:off x="365760" y="228600"/>
            <a:ext cx="640080" cy="347472"/>
          </a:xfrm>
          <a:prstGeom prst="rect">
            <a:avLst/>
          </a:prstGeom>
          <a:noFill/>
          <a:ln/>
        </p:spPr>
        <p:txBody>
          <a:bodyPr wrap="square" lIns="0" tIns="0" rIns="0" bIns="0" rtlCol="0" anchor="ctr"/>
          <a:lstStyle/>
          <a:p>
            <a:pPr indent="0" marL="0">
              <a:buNone/>
            </a:pPr>
            <a:r>
              <a:rPr lang="en-US" sz="1100" b="1" dirty="0">
                <a:solidFill>
                  <a:srgbClr val="6C3FFF"/>
                </a:solidFill>
                <a:latin typeface="Calibri" pitchFamily="34" charset="0"/>
                <a:ea typeface="Calibri" pitchFamily="34" charset="-122"/>
                <a:cs typeface="Calibri" pitchFamily="34" charset="-120"/>
              </a:rPr>
              <a:t>08</a:t>
            </a:r>
            <a:endParaRPr lang="en-US" sz="1100" dirty="0"/>
          </a:p>
        </p:txBody>
      </p:sp>
      <p:sp>
        <p:nvSpPr>
          <p:cNvPr id="4" name="Shape 2"/>
          <p:cNvSpPr/>
          <p:nvPr/>
        </p:nvSpPr>
        <p:spPr>
          <a:xfrm>
            <a:off x="822960" y="256032"/>
            <a:ext cx="1554480" cy="274320"/>
          </a:xfrm>
          <a:prstGeom prst="rect">
            <a:avLst/>
          </a:prstGeom>
          <a:solidFill>
            <a:srgbClr val="1E1040"/>
          </a:solidFill>
          <a:ln w="9525">
            <a:solidFill>
              <a:srgbClr val="6C3FFF"/>
            </a:solidFill>
            <a:prstDash val="solid"/>
          </a:ln>
        </p:spPr>
      </p:sp>
      <p:sp>
        <p:nvSpPr>
          <p:cNvPr id="5" name="Text 3"/>
          <p:cNvSpPr/>
          <p:nvPr/>
        </p:nvSpPr>
        <p:spPr>
          <a:xfrm>
            <a:off x="868680" y="274320"/>
            <a:ext cx="1463040" cy="237744"/>
          </a:xfrm>
          <a:prstGeom prst="rect">
            <a:avLst/>
          </a:prstGeom>
          <a:noFill/>
          <a:ln/>
        </p:spPr>
        <p:txBody>
          <a:bodyPr wrap="square" lIns="0" tIns="0" rIns="0" bIns="0" rtlCol="0" anchor="ctr"/>
          <a:lstStyle/>
          <a:p>
            <a:pPr indent="0" marL="0">
              <a:buNone/>
            </a:pPr>
            <a:r>
              <a:rPr lang="en-US" sz="800" b="1" spc="100" kern="0" dirty="0">
                <a:solidFill>
                  <a:srgbClr val="9B72FF"/>
                </a:solidFill>
                <a:latin typeface="Calibri" pitchFamily="34" charset="0"/>
                <a:ea typeface="Calibri" pitchFamily="34" charset="-122"/>
                <a:cs typeface="Calibri" pitchFamily="34" charset="-120"/>
              </a:rPr>
              <a:t>UX · ENTERPRISE ADOPTION</a:t>
            </a:r>
            <a:endParaRPr lang="en-US" sz="800" dirty="0"/>
          </a:p>
        </p:txBody>
      </p:sp>
      <p:sp>
        <p:nvSpPr>
          <p:cNvPr id="6" name="Text 4"/>
          <p:cNvSpPr/>
          <p:nvPr/>
        </p:nvSpPr>
        <p:spPr>
          <a:xfrm>
            <a:off x="365760" y="566928"/>
            <a:ext cx="8412480" cy="59436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Capability claims without outcome proof — enterprise buyers can't justify the purchase</a:t>
            </a:r>
            <a:endParaRPr lang="en-US" sz="1900" dirty="0"/>
          </a:p>
        </p:txBody>
      </p:sp>
      <p:sp>
        <p:nvSpPr>
          <p:cNvPr id="7" name="Shape 5"/>
          <p:cNvSpPr/>
          <p:nvPr/>
        </p:nvSpPr>
        <p:spPr>
          <a:xfrm>
            <a:off x="365760" y="1261872"/>
            <a:ext cx="2816352" cy="3017520"/>
          </a:xfrm>
          <a:prstGeom prst="rect">
            <a:avLst/>
          </a:prstGeom>
          <a:solidFill>
            <a:srgbClr val="1A2B40"/>
          </a:solidFill>
          <a:ln w="12700">
            <a:solidFill>
              <a:srgbClr val="F5A623"/>
            </a:solidFill>
            <a:prstDash val="solid"/>
          </a:ln>
        </p:spPr>
      </p:sp>
      <p:sp>
        <p:nvSpPr>
          <p:cNvPr id="8" name="Shape 6"/>
          <p:cNvSpPr/>
          <p:nvPr/>
        </p:nvSpPr>
        <p:spPr>
          <a:xfrm>
            <a:off x="365760" y="1261872"/>
            <a:ext cx="2816352" cy="237744"/>
          </a:xfrm>
          <a:prstGeom prst="rect">
            <a:avLst/>
          </a:prstGeom>
          <a:solidFill>
            <a:srgbClr val="F5A623"/>
          </a:solidFill>
          <a:ln w="12700">
            <a:solidFill>
              <a:srgbClr val="F5A623"/>
            </a:solidFill>
            <a:prstDash val="solid"/>
          </a:ln>
        </p:spPr>
      </p:sp>
      <p:sp>
        <p:nvSpPr>
          <p:cNvPr id="9" name="Text 7"/>
          <p:cNvSpPr/>
          <p:nvPr/>
        </p:nvSpPr>
        <p:spPr>
          <a:xfrm>
            <a:off x="457200" y="1271016"/>
            <a:ext cx="2651760" cy="219456"/>
          </a:xfrm>
          <a:prstGeom prst="rect">
            <a:avLst/>
          </a:prstGeom>
          <a:noFill/>
          <a:ln/>
        </p:spPr>
        <p:txBody>
          <a:bodyPr wrap="square" lIns="0" tIns="0" rIns="0" bIns="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(a) Observed</a:t>
            </a:r>
            <a:endParaRPr lang="en-US" sz="850" dirty="0"/>
          </a:p>
        </p:txBody>
      </p:sp>
      <p:sp>
        <p:nvSpPr>
          <p:cNvPr id="10" name="Text 8"/>
          <p:cNvSpPr/>
          <p:nvPr/>
        </p:nvSpPr>
        <p:spPr>
          <a:xfrm>
            <a:off x="457200" y="1554480"/>
            <a:ext cx="2651760" cy="2651760"/>
          </a:xfrm>
          <a:prstGeom prst="rect">
            <a:avLst/>
          </a:prstGeom>
          <a:noFill/>
          <a:ln/>
        </p:spPr>
        <p:txBody>
          <a:bodyPr wrap="square" lIns="0" tIns="0" rIns="0" bIns="0" rtlCol="0" anchor="t"/>
          <a:lstStyle/>
          <a:p>
            <a:pPr indent="0" marL="0">
              <a:buNone/>
            </a:pPr>
            <a:r>
              <a:rPr lang="en-US" sz="1100" dirty="0">
                <a:solidFill>
                  <a:srgbClr val="E8E4F0"/>
                </a:solidFill>
                <a:latin typeface="Calibri" pitchFamily="34" charset="0"/>
                <a:ea typeface="Calibri" pitchFamily="34" charset="-122"/>
                <a:cs typeface="Calibri" pitchFamily="34" charset="-120"/>
              </a:rPr>
              <a:t>Screenshot 3 shows the feature grid: "Any Protocol. One API" / "99.9% Uptime" / "Millions of Concurrent Calls" / "Ship in Hours, Not Months" / "Sub-300ms. Every Call." All six tiles are pure capability claims. Zero customer logos, testimonials, or ROI figures visible anywhere on the page.</a:t>
            </a:r>
            <a:endParaRPr lang="en-US" sz="1100" dirty="0"/>
          </a:p>
        </p:txBody>
      </p:sp>
      <p:sp>
        <p:nvSpPr>
          <p:cNvPr id="11" name="Shape 9"/>
          <p:cNvSpPr/>
          <p:nvPr/>
        </p:nvSpPr>
        <p:spPr>
          <a:xfrm>
            <a:off x="3310128" y="1261872"/>
            <a:ext cx="2816352" cy="3017520"/>
          </a:xfrm>
          <a:prstGeom prst="rect">
            <a:avLst/>
          </a:prstGeom>
          <a:solidFill>
            <a:srgbClr val="1A2B40"/>
          </a:solidFill>
          <a:ln w="12700">
            <a:solidFill>
              <a:srgbClr val="E8445A"/>
            </a:solidFill>
            <a:prstDash val="solid"/>
          </a:ln>
        </p:spPr>
      </p:sp>
      <p:sp>
        <p:nvSpPr>
          <p:cNvPr id="12" name="Shape 10"/>
          <p:cNvSpPr/>
          <p:nvPr/>
        </p:nvSpPr>
        <p:spPr>
          <a:xfrm>
            <a:off x="3310128" y="1261872"/>
            <a:ext cx="2816352" cy="237744"/>
          </a:xfrm>
          <a:prstGeom prst="rect">
            <a:avLst/>
          </a:prstGeom>
          <a:solidFill>
            <a:srgbClr val="E8445A"/>
          </a:solidFill>
          <a:ln w="12700">
            <a:solidFill>
              <a:srgbClr val="E8445A"/>
            </a:solidFill>
            <a:prstDash val="solid"/>
          </a:ln>
        </p:spPr>
      </p:sp>
      <p:sp>
        <p:nvSpPr>
          <p:cNvPr id="13" name="Text 11"/>
          <p:cNvSpPr/>
          <p:nvPr/>
        </p:nvSpPr>
        <p:spPr>
          <a:xfrm>
            <a:off x="3401568" y="1271016"/>
            <a:ext cx="2651760" cy="219456"/>
          </a:xfrm>
          <a:prstGeom prst="rect">
            <a:avLst/>
          </a:prstGeom>
          <a:noFill/>
          <a:ln/>
        </p:spPr>
        <p:txBody>
          <a:bodyPr wrap="square" lIns="0" tIns="0" rIns="0" bIns="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(b) Problem</a:t>
            </a:r>
            <a:endParaRPr lang="en-US" sz="850" dirty="0"/>
          </a:p>
        </p:txBody>
      </p:sp>
      <p:sp>
        <p:nvSpPr>
          <p:cNvPr id="14" name="Text 12"/>
          <p:cNvSpPr/>
          <p:nvPr/>
        </p:nvSpPr>
        <p:spPr>
          <a:xfrm>
            <a:off x="3401568" y="1554480"/>
            <a:ext cx="2651760" cy="2651760"/>
          </a:xfrm>
          <a:prstGeom prst="rect">
            <a:avLst/>
          </a:prstGeom>
          <a:noFill/>
          <a:ln/>
        </p:spPr>
        <p:txBody>
          <a:bodyPr wrap="square" lIns="0" tIns="0" rIns="0" bIns="0" rtlCol="0" anchor="t"/>
          <a:lstStyle/>
          <a:p>
            <a:pPr indent="0" marL="0">
              <a:buNone/>
            </a:pPr>
            <a:r>
              <a:rPr lang="en-US" sz="1100" dirty="0">
                <a:solidFill>
                  <a:srgbClr val="E8E4F0"/>
                </a:solidFill>
                <a:latin typeface="Calibri" pitchFamily="34" charset="0"/>
                <a:ea typeface="Calibri" pitchFamily="34" charset="-122"/>
                <a:cs typeface="Calibri" pitchFamily="34" charset="-120"/>
              </a:rPr>
              <a:t>Enterprise procurement involves a budget owner (VP Ops, CFO) who doesn't understand SIP specs but absolutely understands "reduced handle time by 40%." Capability claims without evidence are indistinguishable from marketing copy — every competitor says the same things. The economic buyer bounces without an ROI anchor; the technical buyer can't carry the internal eval forward.</a:t>
            </a:r>
            <a:endParaRPr lang="en-US" sz="1100" dirty="0"/>
          </a:p>
        </p:txBody>
      </p:sp>
      <p:sp>
        <p:nvSpPr>
          <p:cNvPr id="15" name="Shape 13"/>
          <p:cNvSpPr/>
          <p:nvPr/>
        </p:nvSpPr>
        <p:spPr>
          <a:xfrm>
            <a:off x="6254496" y="1261872"/>
            <a:ext cx="2816352" cy="3017520"/>
          </a:xfrm>
          <a:prstGeom prst="rect">
            <a:avLst/>
          </a:prstGeom>
          <a:solidFill>
            <a:srgbClr val="1A2B40"/>
          </a:solidFill>
          <a:ln w="12700">
            <a:solidFill>
              <a:srgbClr val="22C97A"/>
            </a:solidFill>
            <a:prstDash val="solid"/>
          </a:ln>
        </p:spPr>
      </p:sp>
      <p:sp>
        <p:nvSpPr>
          <p:cNvPr id="16" name="Shape 14"/>
          <p:cNvSpPr/>
          <p:nvPr/>
        </p:nvSpPr>
        <p:spPr>
          <a:xfrm>
            <a:off x="6254496" y="1261872"/>
            <a:ext cx="2816352" cy="237744"/>
          </a:xfrm>
          <a:prstGeom prst="rect">
            <a:avLst/>
          </a:prstGeom>
          <a:solidFill>
            <a:srgbClr val="22C97A"/>
          </a:solidFill>
          <a:ln w="12700">
            <a:solidFill>
              <a:srgbClr val="22C97A"/>
            </a:solidFill>
            <a:prstDash val="solid"/>
          </a:ln>
        </p:spPr>
      </p:sp>
      <p:sp>
        <p:nvSpPr>
          <p:cNvPr id="17" name="Text 15"/>
          <p:cNvSpPr/>
          <p:nvPr/>
        </p:nvSpPr>
        <p:spPr>
          <a:xfrm>
            <a:off x="6345936" y="1271016"/>
            <a:ext cx="2651760" cy="219456"/>
          </a:xfrm>
          <a:prstGeom prst="rect">
            <a:avLst/>
          </a:prstGeom>
          <a:noFill/>
          <a:ln/>
        </p:spPr>
        <p:txBody>
          <a:bodyPr wrap="square" lIns="0" tIns="0" rIns="0" bIns="0" rtlCol="0" anchor="ctr"/>
          <a:lstStyle/>
          <a:p>
            <a:pPr indent="0" marL="0">
              <a:buNone/>
            </a:pPr>
            <a:r>
              <a:rPr lang="en-US" sz="850" b="1" dirty="0">
                <a:solidFill>
                  <a:srgbClr val="0D1B2A"/>
                </a:solidFill>
                <a:latin typeface="Calibri" pitchFamily="34" charset="0"/>
                <a:ea typeface="Calibri" pitchFamily="34" charset="-122"/>
                <a:cs typeface="Calibri" pitchFamily="34" charset="-120"/>
              </a:rPr>
              <a:t>(c) Ship Instead</a:t>
            </a:r>
            <a:endParaRPr lang="en-US" sz="850" dirty="0"/>
          </a:p>
        </p:txBody>
      </p:sp>
      <p:sp>
        <p:nvSpPr>
          <p:cNvPr id="18" name="Text 16"/>
          <p:cNvSpPr/>
          <p:nvPr/>
        </p:nvSpPr>
        <p:spPr>
          <a:xfrm>
            <a:off x="6345936" y="1554480"/>
            <a:ext cx="2651760" cy="2651760"/>
          </a:xfrm>
          <a:prstGeom prst="rect">
            <a:avLst/>
          </a:prstGeom>
          <a:noFill/>
          <a:ln/>
        </p:spPr>
        <p:txBody>
          <a:bodyPr wrap="square" lIns="0" tIns="0" rIns="0" bIns="0" rtlCol="0" anchor="t"/>
          <a:lstStyle/>
          <a:p>
            <a:pPr indent="0" marL="0">
              <a:buNone/>
            </a:pPr>
            <a:r>
              <a:rPr lang="en-US" sz="1100" dirty="0">
                <a:solidFill>
                  <a:srgbClr val="E8E4F0"/>
                </a:solidFill>
                <a:latin typeface="Calibri" pitchFamily="34" charset="0"/>
                <a:ea typeface="Calibri" pitchFamily="34" charset="-122"/>
                <a:cs typeface="Calibri" pitchFamily="34" charset="-120"/>
              </a:rPr>
              <a:t>Add an "outcomes" section between feature grid and video:</a:t>
            </a:r>
            <a:endParaRPr lang="en-US" sz="1100" dirty="0"/>
          </a:p>
          <a:p>
            <a:pPr indent="0" marL="0">
              <a:buNone/>
            </a:pPr>
            <a:r>
              <a:rPr lang="en-US" sz="1100" dirty="0">
                <a:solidFill>
                  <a:srgbClr val="E8E4F0"/>
                </a:solidFill>
                <a:latin typeface="Calibri" pitchFamily="34" charset="0"/>
                <a:ea typeface="Calibri" pitchFamily="34" charset="-122"/>
                <a:cs typeface="Calibri" pitchFamily="34" charset="-120"/>
              </a:rPr>
              <a:t>→ 3 cards: customer name, use case, one headline metric, 2-sentence quote</a:t>
            </a:r>
            <a:endParaRPr lang="en-US" sz="1100" dirty="0"/>
          </a:p>
          <a:p>
            <a:pPr indent="0" marL="0">
              <a:buNone/>
            </a:pPr>
            <a:r>
              <a:rPr lang="en-US" sz="1100" dirty="0">
                <a:solidFill>
                  <a:srgbClr val="E8E4F0"/>
                </a:solidFill>
                <a:latin typeface="Calibri" pitchFamily="34" charset="0"/>
                <a:ea typeface="Calibri" pitchFamily="34" charset="-122"/>
                <a:cs typeface="Calibri" pitchFamily="34" charset="-120"/>
              </a:rPr>
              <a:t>→ Indian SMBs as early references are fine — real numbers matter more than logo tier</a:t>
            </a:r>
            <a:endParaRPr lang="en-US" sz="1100" dirty="0"/>
          </a:p>
          <a:p>
            <a:pPr indent="0" marL="0">
              <a:buNone/>
            </a:pPr>
            <a:endParaRPr lang="en-US" sz="1100" dirty="0"/>
          </a:p>
          <a:p>
            <a:pPr indent="0" marL="0">
              <a:buNone/>
            </a:pPr>
            <a:r>
              <a:rPr lang="en-US" sz="1100" dirty="0">
                <a:solidFill>
                  <a:srgbClr val="E8E4F0"/>
                </a:solidFill>
                <a:latin typeface="Calibri" pitchFamily="34" charset="0"/>
                <a:ea typeface="Calibri" pitchFamily="34" charset="-122"/>
                <a:cs typeface="Calibri" pitchFamily="34" charset="-120"/>
              </a:rPr>
              <a:t>Also build a ROI calculator: inputs (calls/month, agent cost/call) → projected savings. Gives non-technical buyers a shareable business case for their CFO.</a:t>
            </a:r>
            <a:endParaRPr lang="en-US" sz="1100" dirty="0"/>
          </a:p>
        </p:txBody>
      </p:sp>
      <p:sp>
        <p:nvSpPr>
          <p:cNvPr id="19" name="Text 17"/>
          <p:cNvSpPr/>
          <p:nvPr/>
        </p:nvSpPr>
        <p:spPr>
          <a:xfrm>
            <a:off x="365760" y="4407408"/>
            <a:ext cx="1828800" cy="228600"/>
          </a:xfrm>
          <a:prstGeom prst="rect">
            <a:avLst/>
          </a:prstGeom>
          <a:noFill/>
          <a:ln/>
        </p:spPr>
        <p:txBody>
          <a:bodyPr wrap="square" lIns="0" tIns="0" rIns="0" bIns="0" rtlCol="0" anchor="ctr"/>
          <a:lstStyle/>
          <a:p>
            <a:pPr indent="0" marL="0">
              <a:buNone/>
            </a:pPr>
            <a:r>
              <a:rPr lang="en-US" sz="800" b="1" spc="100" kern="0" dirty="0">
                <a:solidFill>
                  <a:srgbClr val="8B8FA8"/>
                </a:solidFill>
                <a:latin typeface="Calibri" pitchFamily="34" charset="0"/>
                <a:ea typeface="Calibri" pitchFamily="34" charset="-122"/>
                <a:cs typeface="Calibri" pitchFamily="34" charset="-120"/>
              </a:rPr>
              <a:t>EXPECTED IMPACT:</a:t>
            </a:r>
            <a:endParaRPr lang="en-US" sz="800" dirty="0"/>
          </a:p>
        </p:txBody>
      </p:sp>
      <p:sp>
        <p:nvSpPr>
          <p:cNvPr id="20" name="Shape 18"/>
          <p:cNvSpPr/>
          <p:nvPr/>
        </p:nvSpPr>
        <p:spPr>
          <a:xfrm>
            <a:off x="1737360" y="4407408"/>
            <a:ext cx="2562149" cy="237744"/>
          </a:xfrm>
          <a:prstGeom prst="rect">
            <a:avLst/>
          </a:prstGeom>
          <a:solidFill>
            <a:srgbClr val="0A2E1C"/>
          </a:solidFill>
          <a:ln w="9525">
            <a:solidFill>
              <a:srgbClr val="22C97A"/>
            </a:solidFill>
            <a:prstDash val="solid"/>
          </a:ln>
        </p:spPr>
      </p:sp>
      <p:sp>
        <p:nvSpPr>
          <p:cNvPr id="21" name="Text 19"/>
          <p:cNvSpPr/>
          <p:nvPr/>
        </p:nvSpPr>
        <p:spPr>
          <a:xfrm>
            <a:off x="1810512" y="4425696"/>
            <a:ext cx="2452421" cy="201168"/>
          </a:xfrm>
          <a:prstGeom prst="rect">
            <a:avLst/>
          </a:prstGeom>
          <a:noFill/>
          <a:ln/>
        </p:spPr>
        <p:txBody>
          <a:bodyPr wrap="square" lIns="0" tIns="0" rIns="0" bIns="0" rtlCol="0" anchor="ctr"/>
          <a:lstStyle/>
          <a:p>
            <a:pPr indent="0" marL="0">
              <a:buNone/>
            </a:pPr>
            <a:r>
              <a:rPr lang="en-US" sz="900" dirty="0">
                <a:solidFill>
                  <a:srgbClr val="22C97A"/>
                </a:solidFill>
                <a:latin typeface="Calibri" pitchFamily="34" charset="0"/>
                <a:ea typeface="Calibri" pitchFamily="34" charset="-122"/>
                <a:cs typeface="Calibri" pitchFamily="34" charset="-120"/>
              </a:rPr>
              <a:t>Enterprise demo conversion up</a:t>
            </a:r>
            <a:endParaRPr lang="en-US" sz="900" dirty="0"/>
          </a:p>
        </p:txBody>
      </p:sp>
      <p:sp>
        <p:nvSpPr>
          <p:cNvPr id="22" name="Shape 20"/>
          <p:cNvSpPr/>
          <p:nvPr/>
        </p:nvSpPr>
        <p:spPr>
          <a:xfrm>
            <a:off x="4409237" y="4407408"/>
            <a:ext cx="1918411" cy="237744"/>
          </a:xfrm>
          <a:prstGeom prst="rect">
            <a:avLst/>
          </a:prstGeom>
          <a:solidFill>
            <a:srgbClr val="0A2E1C"/>
          </a:solidFill>
          <a:ln w="9525">
            <a:solidFill>
              <a:srgbClr val="22C97A"/>
            </a:solidFill>
            <a:prstDash val="solid"/>
          </a:ln>
        </p:spPr>
      </p:sp>
      <p:sp>
        <p:nvSpPr>
          <p:cNvPr id="23" name="Text 21"/>
          <p:cNvSpPr/>
          <p:nvPr/>
        </p:nvSpPr>
        <p:spPr>
          <a:xfrm>
            <a:off x="4482389" y="4425696"/>
            <a:ext cx="1808683" cy="201168"/>
          </a:xfrm>
          <a:prstGeom prst="rect">
            <a:avLst/>
          </a:prstGeom>
          <a:noFill/>
          <a:ln/>
        </p:spPr>
        <p:txBody>
          <a:bodyPr wrap="square" lIns="0" tIns="0" rIns="0" bIns="0" rtlCol="0" anchor="ctr"/>
          <a:lstStyle/>
          <a:p>
            <a:pPr indent="0" marL="0">
              <a:buNone/>
            </a:pPr>
            <a:r>
              <a:rPr lang="en-US" sz="900" dirty="0">
                <a:solidFill>
                  <a:srgbClr val="22C97A"/>
                </a:solidFill>
                <a:latin typeface="Calibri" pitchFamily="34" charset="0"/>
                <a:ea typeface="Calibri" pitchFamily="34" charset="-122"/>
                <a:cs typeface="Calibri" pitchFamily="34" charset="-120"/>
              </a:rPr>
              <a:t>Sales cycle shortened</a:t>
            </a:r>
            <a:endParaRPr lang="en-US" sz="900" dirty="0"/>
          </a:p>
        </p:txBody>
      </p:sp>
      <p:sp>
        <p:nvSpPr>
          <p:cNvPr id="24" name="Shape 22"/>
          <p:cNvSpPr/>
          <p:nvPr/>
        </p:nvSpPr>
        <p:spPr>
          <a:xfrm>
            <a:off x="6437376" y="4407408"/>
            <a:ext cx="3447288" cy="237744"/>
          </a:xfrm>
          <a:prstGeom prst="rect">
            <a:avLst/>
          </a:prstGeom>
          <a:solidFill>
            <a:srgbClr val="2E1E00"/>
          </a:solidFill>
          <a:ln w="9525">
            <a:solidFill>
              <a:srgbClr val="F5A623"/>
            </a:solidFill>
            <a:prstDash val="solid"/>
          </a:ln>
        </p:spPr>
      </p:sp>
      <p:sp>
        <p:nvSpPr>
          <p:cNvPr id="25" name="Text 23"/>
          <p:cNvSpPr/>
          <p:nvPr/>
        </p:nvSpPr>
        <p:spPr>
          <a:xfrm>
            <a:off x="6510528" y="4425696"/>
            <a:ext cx="3337560" cy="201168"/>
          </a:xfrm>
          <a:prstGeom prst="rect">
            <a:avLst/>
          </a:prstGeom>
          <a:noFill/>
          <a:ln/>
        </p:spPr>
        <p:txBody>
          <a:bodyPr wrap="square" lIns="0" tIns="0" rIns="0" bIns="0" rtlCol="0" anchor="ctr"/>
          <a:lstStyle/>
          <a:p>
            <a:pPr indent="0" marL="0">
              <a:buNone/>
            </a:pPr>
            <a:r>
              <a:rPr lang="en-US" sz="900" dirty="0">
                <a:solidFill>
                  <a:srgbClr val="F5A623"/>
                </a:solidFill>
                <a:latin typeface="Calibri" pitchFamily="34" charset="0"/>
                <a:ea typeface="Calibri" pitchFamily="34" charset="-122"/>
                <a:cs typeface="Calibri" pitchFamily="34" charset="-120"/>
              </a:rPr>
              <a:t>Outcome SEO ("reduce call center costs")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3FFF"/>
          </a:solidFill>
          <a:ln w="12700">
            <a:solidFill>
              <a:srgbClr val="6C3FFF"/>
            </a:solidFill>
            <a:prstDash val="solid"/>
          </a:ln>
        </p:spPr>
      </p:sp>
      <p:sp>
        <p:nvSpPr>
          <p:cNvPr id="3" name="Text 1"/>
          <p:cNvSpPr/>
          <p:nvPr/>
        </p:nvSpPr>
        <p:spPr>
          <a:xfrm>
            <a:off x="365760" y="228600"/>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Prioritization Matrix</a:t>
            </a:r>
            <a:endParaRPr lang="en-US" sz="2800" dirty="0"/>
          </a:p>
        </p:txBody>
      </p:sp>
      <p:sp>
        <p:nvSpPr>
          <p:cNvPr id="4" name="Shape 2"/>
          <p:cNvSpPr/>
          <p:nvPr/>
        </p:nvSpPr>
        <p:spPr>
          <a:xfrm>
            <a:off x="365760" y="868680"/>
            <a:ext cx="4160520" cy="2194560"/>
          </a:xfrm>
          <a:prstGeom prst="rect">
            <a:avLst/>
          </a:prstGeom>
          <a:solidFill>
            <a:srgbClr val="0A2E1C"/>
          </a:solidFill>
          <a:ln w="19050">
            <a:solidFill>
              <a:srgbClr val="22C97A"/>
            </a:solidFill>
            <a:prstDash val="solid"/>
          </a:ln>
        </p:spPr>
      </p:sp>
      <p:sp>
        <p:nvSpPr>
          <p:cNvPr id="5" name="Text 3"/>
          <p:cNvSpPr/>
          <p:nvPr/>
        </p:nvSpPr>
        <p:spPr>
          <a:xfrm>
            <a:off x="475488" y="960120"/>
            <a:ext cx="3977640" cy="274320"/>
          </a:xfrm>
          <a:prstGeom prst="rect">
            <a:avLst/>
          </a:prstGeom>
          <a:noFill/>
          <a:ln/>
        </p:spPr>
        <p:txBody>
          <a:bodyPr wrap="square" lIns="0" tIns="0" rIns="0" bIns="0" rtlCol="0" anchor="ctr"/>
          <a:lstStyle/>
          <a:p>
            <a:pPr indent="0" marL="0">
              <a:buNone/>
            </a:pPr>
            <a:r>
              <a:rPr lang="en-US" sz="950" b="1" dirty="0">
                <a:solidFill>
                  <a:srgbClr val="22C97A"/>
                </a:solidFill>
                <a:latin typeface="Calibri" pitchFamily="34" charset="0"/>
                <a:ea typeface="Calibri" pitchFamily="34" charset="-122"/>
                <a:cs typeface="Calibri" pitchFamily="34" charset="-120"/>
              </a:rPr>
              <a:t>⚡ High Impact · Low Effort  →  Ship This Week</a:t>
            </a:r>
            <a:endParaRPr lang="en-US" sz="950" dirty="0"/>
          </a:p>
        </p:txBody>
      </p:sp>
      <p:sp>
        <p:nvSpPr>
          <p:cNvPr id="6" name="Text 4"/>
          <p:cNvSpPr/>
          <p:nvPr/>
        </p:nvSpPr>
        <p:spPr>
          <a:xfrm>
            <a:off x="475488" y="1307592"/>
            <a:ext cx="3959352" cy="1645920"/>
          </a:xfrm>
          <a:prstGeom prst="rect">
            <a:avLst/>
          </a:prstGeom>
          <a:noFill/>
          <a:ln/>
        </p:spPr>
        <p:txBody>
          <a:bodyPr wrap="square" lIns="0" tIns="0" rIns="0" bIns="0" rtlCol="0" anchor="t"/>
          <a:lstStyle/>
          <a:p>
            <a:pPr marL="342900" indent="-342900">
              <a:buSzPct val="100000"/>
              <a:buChar char="•"/>
            </a:pPr>
            <a:r>
              <a:rPr lang="en-US" sz="1100" dirty="0">
                <a:solidFill>
                  <a:srgbClr val="E8E4F0"/>
                </a:solidFill>
                <a:latin typeface="Calibri" pitchFamily="34" charset="0"/>
                <a:ea typeface="Calibri" pitchFamily="34" charset="-122"/>
                <a:cs typeface="Calibri" pitchFamily="34" charset="-120"/>
              </a:rPr>
              <a:t>Playable audio snippet in hero (audio files, 1–2 days)</a:t>
            </a:r>
            <a:endParaRPr lang="en-US" sz="1100" dirty="0"/>
          </a:p>
          <a:p>
            <a:pPr marL="342900" indent="-342900">
              <a:buSzPct val="100000"/>
              <a:buChar char="•"/>
            </a:pPr>
            <a:r>
              <a:rPr lang="en-US" sz="1100" dirty="0">
                <a:solidFill>
                  <a:srgbClr val="E8E4F0"/>
                </a:solidFill>
                <a:latin typeface="Calibri" pitchFamily="34" charset="0"/>
                <a:ea typeface="Calibri" pitchFamily="34" charset="-122"/>
                <a:cs typeface="Calibri" pitchFamily="34" charset="-120"/>
              </a:rPr>
              <a:t>Split hero CTA: dev sandbox path + enterprise demo path (2 days)</a:t>
            </a:r>
            <a:endParaRPr lang="en-US" sz="1100" dirty="0"/>
          </a:p>
          <a:p>
            <a:pPr marL="342900" indent="-342900">
              <a:buSzPct val="100000"/>
              <a:buChar char="•"/>
            </a:pPr>
            <a:r>
              <a:rPr lang="en-US" sz="1100" dirty="0">
                <a:solidFill>
                  <a:srgbClr val="E8E4F0"/>
                </a:solidFill>
                <a:latin typeface="Calibri" pitchFamily="34" charset="0"/>
                <a:ea typeface="Calibri" pitchFamily="34" charset="-122"/>
                <a:cs typeface="Calibri" pitchFamily="34" charset="-120"/>
              </a:rPr>
              <a:t>"Built for India" homepage section with Hindi audio clip (3 days)</a:t>
            </a:r>
            <a:endParaRPr lang="en-US" sz="1100" dirty="0"/>
          </a:p>
          <a:p>
            <a:pPr marL="342900" indent="-342900">
              <a:buSzPct val="100000"/>
              <a:buChar char="•"/>
            </a:pPr>
            <a:r>
              <a:rPr lang="en-US" sz="1100" dirty="0">
                <a:solidFill>
                  <a:srgbClr val="E8E4F0"/>
                </a:solidFill>
                <a:latin typeface="Calibri" pitchFamily="34" charset="0"/>
                <a:ea typeface="Calibri" pitchFamily="34" charset="-122"/>
                <a:cs typeface="Calibri" pitchFamily="34" charset="-120"/>
              </a:rPr>
              <a:t>Customer outcome cards with real metrics (copy + design, 3 days)</a:t>
            </a:r>
            <a:endParaRPr lang="en-US" sz="1100" dirty="0"/>
          </a:p>
        </p:txBody>
      </p:sp>
      <p:sp>
        <p:nvSpPr>
          <p:cNvPr id="7" name="Shape 5"/>
          <p:cNvSpPr/>
          <p:nvPr/>
        </p:nvSpPr>
        <p:spPr>
          <a:xfrm>
            <a:off x="4663440" y="868680"/>
            <a:ext cx="4160520" cy="2194560"/>
          </a:xfrm>
          <a:prstGeom prst="rect">
            <a:avLst/>
          </a:prstGeom>
          <a:solidFill>
            <a:srgbClr val="2E1E00"/>
          </a:solidFill>
          <a:ln w="19050">
            <a:solidFill>
              <a:srgbClr val="F5A623"/>
            </a:solidFill>
            <a:prstDash val="solid"/>
          </a:ln>
        </p:spPr>
      </p:sp>
      <p:sp>
        <p:nvSpPr>
          <p:cNvPr id="8" name="Text 6"/>
          <p:cNvSpPr/>
          <p:nvPr/>
        </p:nvSpPr>
        <p:spPr>
          <a:xfrm>
            <a:off x="4773168" y="960120"/>
            <a:ext cx="3977640" cy="274320"/>
          </a:xfrm>
          <a:prstGeom prst="rect">
            <a:avLst/>
          </a:prstGeom>
          <a:noFill/>
          <a:ln/>
        </p:spPr>
        <p:txBody>
          <a:bodyPr wrap="square" lIns="0" tIns="0" rIns="0" bIns="0" rtlCol="0" anchor="ctr"/>
          <a:lstStyle/>
          <a:p>
            <a:pPr indent="0" marL="0">
              <a:buNone/>
            </a:pPr>
            <a:r>
              <a:rPr lang="en-US" sz="950" b="1" dirty="0">
                <a:solidFill>
                  <a:srgbClr val="F5A623"/>
                </a:solidFill>
                <a:latin typeface="Calibri" pitchFamily="34" charset="0"/>
                <a:ea typeface="Calibri" pitchFamily="34" charset="-122"/>
                <a:cs typeface="Calibri" pitchFamily="34" charset="-120"/>
              </a:rPr>
              <a:t>🏗 High Impact · High Effort  →  Q3 Priority</a:t>
            </a:r>
            <a:endParaRPr lang="en-US" sz="950" dirty="0"/>
          </a:p>
        </p:txBody>
      </p:sp>
      <p:sp>
        <p:nvSpPr>
          <p:cNvPr id="9" name="Text 7"/>
          <p:cNvSpPr/>
          <p:nvPr/>
        </p:nvSpPr>
        <p:spPr>
          <a:xfrm>
            <a:off x="4773168" y="1307592"/>
            <a:ext cx="3959352" cy="1645920"/>
          </a:xfrm>
          <a:prstGeom prst="rect">
            <a:avLst/>
          </a:prstGeom>
          <a:noFill/>
          <a:ln/>
        </p:spPr>
        <p:txBody>
          <a:bodyPr wrap="square" lIns="0" tIns="0" rIns="0" bIns="0" rtlCol="0" anchor="t"/>
          <a:lstStyle/>
          <a:p>
            <a:pPr marL="342900" indent="-342900">
              <a:buSzPct val="100000"/>
              <a:buChar char="•"/>
            </a:pPr>
            <a:r>
              <a:rPr lang="en-US" sz="1100" dirty="0">
                <a:solidFill>
                  <a:srgbClr val="E8E4F0"/>
                </a:solidFill>
                <a:latin typeface="Calibri" pitchFamily="34" charset="0"/>
                <a:ea typeface="Calibri" pitchFamily="34" charset="-122"/>
                <a:cs typeface="Calibri" pitchFamily="34" charset="-120"/>
              </a:rPr>
              <a:t>Free-tier sandbox + API key self-serve (2–3 weeks)</a:t>
            </a:r>
            <a:endParaRPr lang="en-US" sz="1100" dirty="0"/>
          </a:p>
          <a:p>
            <a:pPr marL="342900" indent="-342900">
              <a:buSzPct val="100000"/>
              <a:buChar char="•"/>
            </a:pPr>
            <a:r>
              <a:rPr lang="en-US" sz="1100" dirty="0">
                <a:solidFill>
                  <a:srgbClr val="E8E4F0"/>
                </a:solidFill>
                <a:latin typeface="Calibri" pitchFamily="34" charset="0"/>
                <a:ea typeface="Calibri" pitchFamily="34" charset="-122"/>
                <a:cs typeface="Calibri" pitchFamily="34" charset="-120"/>
              </a:rPr>
              <a:t>"Call me now" live demo widget in hero (1 week)</a:t>
            </a:r>
            <a:endParaRPr lang="en-US" sz="1100" dirty="0"/>
          </a:p>
          <a:p>
            <a:pPr marL="342900" indent="-342900">
              <a:buSzPct val="100000"/>
              <a:buChar char="•"/>
            </a:pPr>
            <a:r>
              <a:rPr lang="en-US" sz="1100" dirty="0">
                <a:solidFill>
                  <a:srgbClr val="E8E4F0"/>
                </a:solidFill>
                <a:latin typeface="Calibri" pitchFamily="34" charset="0"/>
                <a:ea typeface="Calibri" pitchFamily="34" charset="-122"/>
                <a:cs typeface="Calibri" pitchFamily="34" charset="-120"/>
              </a:rPr>
              <a:t>ROI calculator tool for enterprise buyers (1–2 weeks)</a:t>
            </a:r>
            <a:endParaRPr lang="en-US" sz="1100" dirty="0"/>
          </a:p>
          <a:p>
            <a:pPr marL="342900" indent="-342900">
              <a:buSzPct val="100000"/>
              <a:buChar char="•"/>
            </a:pPr>
            <a:r>
              <a:rPr lang="en-US" sz="1100" dirty="0">
                <a:solidFill>
                  <a:srgbClr val="E8E4F0"/>
                </a:solidFill>
                <a:latin typeface="Calibri" pitchFamily="34" charset="0"/>
                <a:ea typeface="Calibri" pitchFamily="34" charset="-122"/>
                <a:cs typeface="Calibri" pitchFamily="34" charset="-120"/>
              </a:rPr>
              <a:t>Separate enterprise vs developer landing pages</a:t>
            </a:r>
            <a:endParaRPr lang="en-US" sz="1100" dirty="0"/>
          </a:p>
        </p:txBody>
      </p:sp>
      <p:sp>
        <p:nvSpPr>
          <p:cNvPr id="10" name="Shape 8"/>
          <p:cNvSpPr/>
          <p:nvPr/>
        </p:nvSpPr>
        <p:spPr>
          <a:xfrm>
            <a:off x="365760" y="3182112"/>
            <a:ext cx="4160520" cy="1737360"/>
          </a:xfrm>
          <a:prstGeom prst="rect">
            <a:avLst/>
          </a:prstGeom>
          <a:solidFill>
            <a:srgbClr val="1A2B40"/>
          </a:solidFill>
          <a:ln w="19050">
            <a:solidFill>
              <a:srgbClr val="8B8FA8"/>
            </a:solidFill>
            <a:prstDash val="solid"/>
          </a:ln>
        </p:spPr>
      </p:sp>
      <p:sp>
        <p:nvSpPr>
          <p:cNvPr id="11" name="Text 9"/>
          <p:cNvSpPr/>
          <p:nvPr/>
        </p:nvSpPr>
        <p:spPr>
          <a:xfrm>
            <a:off x="475488" y="3273552"/>
            <a:ext cx="3977640" cy="274320"/>
          </a:xfrm>
          <a:prstGeom prst="rect">
            <a:avLst/>
          </a:prstGeom>
          <a:noFill/>
          <a:ln/>
        </p:spPr>
        <p:txBody>
          <a:bodyPr wrap="square" lIns="0" tIns="0" rIns="0" bIns="0" rtlCol="0" anchor="ctr"/>
          <a:lstStyle/>
          <a:p>
            <a:pPr indent="0" marL="0">
              <a:buNone/>
            </a:pPr>
            <a:r>
              <a:rPr lang="en-US" sz="950" b="1" dirty="0">
                <a:solidFill>
                  <a:srgbClr val="8B8FA8"/>
                </a:solidFill>
                <a:latin typeface="Calibri" pitchFamily="34" charset="0"/>
                <a:ea typeface="Calibri" pitchFamily="34" charset="-122"/>
                <a:cs typeface="Calibri" pitchFamily="34" charset="-120"/>
              </a:rPr>
              <a:t>📋 Medium Impact · Low Effort  →  Good Backlog</a:t>
            </a:r>
            <a:endParaRPr lang="en-US" sz="950" dirty="0"/>
          </a:p>
        </p:txBody>
      </p:sp>
      <p:sp>
        <p:nvSpPr>
          <p:cNvPr id="12" name="Text 10"/>
          <p:cNvSpPr/>
          <p:nvPr/>
        </p:nvSpPr>
        <p:spPr>
          <a:xfrm>
            <a:off x="475488" y="3621024"/>
            <a:ext cx="3959352" cy="1188720"/>
          </a:xfrm>
          <a:prstGeom prst="rect">
            <a:avLst/>
          </a:prstGeom>
          <a:noFill/>
          <a:ln/>
        </p:spPr>
        <p:txBody>
          <a:bodyPr wrap="square" lIns="0" tIns="0" rIns="0" bIns="0" rtlCol="0" anchor="t"/>
          <a:lstStyle/>
          <a:p>
            <a:pPr marL="342900" indent="-342900">
              <a:buSzPct val="100000"/>
              <a:buChar char="•"/>
            </a:pPr>
            <a:r>
              <a:rPr lang="en-US" sz="1100" dirty="0">
                <a:solidFill>
                  <a:srgbClr val="E8E4F0"/>
                </a:solidFill>
                <a:latin typeface="Calibri" pitchFamily="34" charset="0"/>
                <a:ea typeface="Calibri" pitchFamily="34" charset="-122"/>
                <a:cs typeface="Calibri" pitchFamily="34" charset="-120"/>
              </a:rPr>
              <a:t>Industry-specific landing pages (/healthcare, /fintech)</a:t>
            </a:r>
            <a:endParaRPr lang="en-US" sz="1100" dirty="0"/>
          </a:p>
          <a:p>
            <a:pPr marL="342900" indent="-342900">
              <a:buSzPct val="100000"/>
              <a:buChar char="•"/>
            </a:pPr>
            <a:r>
              <a:rPr lang="en-US" sz="1100" dirty="0">
                <a:solidFill>
                  <a:srgbClr val="E8E4F0"/>
                </a:solidFill>
                <a:latin typeface="Calibri" pitchFamily="34" charset="0"/>
                <a:ea typeface="Calibri" pitchFamily="34" charset="-122"/>
                <a:cs typeface="Calibri" pitchFamily="34" charset="-120"/>
              </a:rPr>
              <a:t>Quick-start "first call in 5 min" documentation tutorial</a:t>
            </a:r>
            <a:endParaRPr lang="en-US" sz="1100" dirty="0"/>
          </a:p>
          <a:p>
            <a:pPr marL="342900" indent="-342900">
              <a:buSzPct val="100000"/>
              <a:buChar char="•"/>
            </a:pPr>
            <a:r>
              <a:rPr lang="en-US" sz="1100" dirty="0">
                <a:solidFill>
                  <a:srgbClr val="E8E4F0"/>
                </a:solidFill>
                <a:latin typeface="Calibri" pitchFamily="34" charset="0"/>
                <a:ea typeface="Calibri" pitchFamily="34" charset="-122"/>
                <a:cs typeface="Calibri" pitchFamily="34" charset="-120"/>
              </a:rPr>
              <a:t>Trust badge row: logos, uptime status, security certs</a:t>
            </a:r>
            <a:endParaRPr lang="en-US" sz="1100" dirty="0"/>
          </a:p>
        </p:txBody>
      </p:sp>
      <p:sp>
        <p:nvSpPr>
          <p:cNvPr id="13" name="Shape 11"/>
          <p:cNvSpPr/>
          <p:nvPr/>
        </p:nvSpPr>
        <p:spPr>
          <a:xfrm>
            <a:off x="4663440" y="3182112"/>
            <a:ext cx="4160520" cy="1737360"/>
          </a:xfrm>
          <a:prstGeom prst="rect">
            <a:avLst/>
          </a:prstGeom>
          <a:solidFill>
            <a:srgbClr val="2E0A0A"/>
          </a:solidFill>
          <a:ln w="19050">
            <a:solidFill>
              <a:srgbClr val="E8445A"/>
            </a:solidFill>
            <a:prstDash val="solid"/>
          </a:ln>
        </p:spPr>
      </p:sp>
      <p:sp>
        <p:nvSpPr>
          <p:cNvPr id="14" name="Text 12"/>
          <p:cNvSpPr/>
          <p:nvPr/>
        </p:nvSpPr>
        <p:spPr>
          <a:xfrm>
            <a:off x="4773168" y="3273552"/>
            <a:ext cx="3977640" cy="274320"/>
          </a:xfrm>
          <a:prstGeom prst="rect">
            <a:avLst/>
          </a:prstGeom>
          <a:noFill/>
          <a:ln/>
        </p:spPr>
        <p:txBody>
          <a:bodyPr wrap="square" lIns="0" tIns="0" rIns="0" bIns="0" rtlCol="0" anchor="ctr"/>
          <a:lstStyle/>
          <a:p>
            <a:pPr indent="0" marL="0">
              <a:buNone/>
            </a:pPr>
            <a:r>
              <a:rPr lang="en-US" sz="950" b="1" dirty="0">
                <a:solidFill>
                  <a:srgbClr val="E8445A"/>
                </a:solidFill>
                <a:latin typeface="Calibri" pitchFamily="34" charset="0"/>
                <a:ea typeface="Calibri" pitchFamily="34" charset="-122"/>
                <a:cs typeface="Calibri" pitchFamily="34" charset="-120"/>
              </a:rPr>
              <a:t>❌ Deprioritize Now</a:t>
            </a:r>
            <a:endParaRPr lang="en-US" sz="950" dirty="0"/>
          </a:p>
        </p:txBody>
      </p:sp>
      <p:sp>
        <p:nvSpPr>
          <p:cNvPr id="15" name="Text 13"/>
          <p:cNvSpPr/>
          <p:nvPr/>
        </p:nvSpPr>
        <p:spPr>
          <a:xfrm>
            <a:off x="4773168" y="3621024"/>
            <a:ext cx="3959352" cy="1188720"/>
          </a:xfrm>
          <a:prstGeom prst="rect">
            <a:avLst/>
          </a:prstGeom>
          <a:noFill/>
          <a:ln/>
        </p:spPr>
        <p:txBody>
          <a:bodyPr wrap="square" lIns="0" tIns="0" rIns="0" bIns="0" rtlCol="0" anchor="t"/>
          <a:lstStyle/>
          <a:p>
            <a:pPr marL="342900" indent="-342900">
              <a:buSzPct val="100000"/>
              <a:buChar char="•"/>
            </a:pPr>
            <a:r>
              <a:rPr lang="en-US" sz="1100" dirty="0">
                <a:solidFill>
                  <a:srgbClr val="E8E4F0"/>
                </a:solidFill>
                <a:latin typeface="Calibri" pitchFamily="34" charset="0"/>
                <a:ea typeface="Calibri" pitchFamily="34" charset="-122"/>
                <a:cs typeface="Calibri" pitchFamily="34" charset="-120"/>
              </a:rPr>
              <a:t>New feature builds (messaging gap, not feature gap)</a:t>
            </a:r>
            <a:endParaRPr lang="en-US" sz="1100" dirty="0"/>
          </a:p>
          <a:p>
            <a:pPr marL="342900" indent="-342900">
              <a:buSzPct val="100000"/>
              <a:buChar char="•"/>
            </a:pPr>
            <a:r>
              <a:rPr lang="en-US" sz="1100" dirty="0">
                <a:solidFill>
                  <a:srgbClr val="E8E4F0"/>
                </a:solidFill>
                <a:latin typeface="Calibri" pitchFamily="34" charset="0"/>
                <a:ea typeface="Calibri" pitchFamily="34" charset="-122"/>
                <a:cs typeface="Calibri" pitchFamily="34" charset="-120"/>
              </a:rPr>
              <a:t>Gamification / onboarding flows (premature without baseline activation)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3FFF"/>
          </a:solidFill>
          <a:ln w="12700">
            <a:solidFill>
              <a:srgbClr val="6C3FFF"/>
            </a:solidFill>
            <a:prstDash val="solid"/>
          </a:ln>
        </p:spPr>
      </p:sp>
      <p:sp>
        <p:nvSpPr>
          <p:cNvPr id="3" name="Text 1"/>
          <p:cNvSpPr/>
          <p:nvPr/>
        </p:nvSpPr>
        <p:spPr>
          <a:xfrm>
            <a:off x="365760" y="228600"/>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Founder-Level Closing</a:t>
            </a:r>
            <a:endParaRPr lang="en-US" sz="2800" dirty="0"/>
          </a:p>
        </p:txBody>
      </p:sp>
      <p:sp>
        <p:nvSpPr>
          <p:cNvPr id="4" name="Text 2"/>
          <p:cNvSpPr/>
          <p:nvPr/>
        </p:nvSpPr>
        <p:spPr>
          <a:xfrm>
            <a:off x="365760" y="749808"/>
            <a:ext cx="8229600" cy="274320"/>
          </a:xfrm>
          <a:prstGeom prst="rect">
            <a:avLst/>
          </a:prstGeom>
          <a:noFill/>
          <a:ln/>
        </p:spPr>
        <p:txBody>
          <a:bodyPr wrap="square" lIns="0" tIns="0" rIns="0" bIns="0" rtlCol="0" anchor="ctr"/>
          <a:lstStyle/>
          <a:p>
            <a:pPr indent="0" marL="0">
              <a:buNone/>
            </a:pPr>
            <a:r>
              <a:rPr lang="en-US" sz="1300" dirty="0">
                <a:solidFill>
                  <a:srgbClr val="9B72FF"/>
                </a:solidFill>
                <a:latin typeface="Calibri" pitchFamily="34" charset="0"/>
                <a:ea typeface="Calibri" pitchFamily="34" charset="-122"/>
                <a:cs typeface="Calibri" pitchFamily="34" charset="-120"/>
              </a:rPr>
              <a:t>The internal briefing I would bring to the founding team on Day 1</a:t>
            </a:r>
            <a:endParaRPr lang="en-US" sz="1300" dirty="0"/>
          </a:p>
        </p:txBody>
      </p:sp>
      <p:sp>
        <p:nvSpPr>
          <p:cNvPr id="5" name="Shape 3"/>
          <p:cNvSpPr/>
          <p:nvPr/>
        </p:nvSpPr>
        <p:spPr>
          <a:xfrm>
            <a:off x="365760" y="1115568"/>
            <a:ext cx="4251960" cy="1810512"/>
          </a:xfrm>
          <a:prstGeom prst="rect">
            <a:avLst/>
          </a:prstGeom>
          <a:solidFill>
            <a:srgbClr val="2E0A0A"/>
          </a:solidFill>
          <a:ln w="19050">
            <a:solidFill>
              <a:srgbClr val="E8445A"/>
            </a:solidFill>
            <a:prstDash val="solid"/>
          </a:ln>
        </p:spPr>
      </p:sp>
      <p:sp>
        <p:nvSpPr>
          <p:cNvPr id="6" name="Text 4"/>
          <p:cNvSpPr/>
          <p:nvPr/>
        </p:nvSpPr>
        <p:spPr>
          <a:xfrm>
            <a:off x="502920" y="1225296"/>
            <a:ext cx="4023360" cy="228600"/>
          </a:xfrm>
          <a:prstGeom prst="rect">
            <a:avLst/>
          </a:prstGeom>
          <a:noFill/>
          <a:ln/>
        </p:spPr>
        <p:txBody>
          <a:bodyPr wrap="square" lIns="0" tIns="0" rIns="0" bIns="0" rtlCol="0" anchor="ctr"/>
          <a:lstStyle/>
          <a:p>
            <a:pPr indent="0" marL="0">
              <a:buNone/>
            </a:pPr>
            <a:r>
              <a:rPr lang="en-US" sz="800" b="1" spc="150" kern="0" dirty="0">
                <a:solidFill>
                  <a:srgbClr val="E8445A"/>
                </a:solidFill>
                <a:latin typeface="Calibri" pitchFamily="34" charset="0"/>
                <a:ea typeface="Calibri" pitchFamily="34" charset="-122"/>
                <a:cs typeface="Calibri" pitchFamily="34" charset="-120"/>
              </a:rPr>
              <a:t>BIGGEST STRATEGIC RISK</a:t>
            </a:r>
            <a:endParaRPr lang="en-US" sz="800" dirty="0"/>
          </a:p>
        </p:txBody>
      </p:sp>
      <p:sp>
        <p:nvSpPr>
          <p:cNvPr id="7" name="Text 5"/>
          <p:cNvSpPr/>
          <p:nvPr/>
        </p:nvSpPr>
        <p:spPr>
          <a:xfrm>
            <a:off x="502920" y="1499616"/>
            <a:ext cx="4023360" cy="1335024"/>
          </a:xfrm>
          <a:prstGeom prst="rect">
            <a:avLst/>
          </a:prstGeom>
          <a:noFill/>
          <a:ln/>
        </p:spPr>
        <p:txBody>
          <a:bodyPr wrap="square" lIns="0" tIns="0" rIns="0" bIns="0" rtlCol="0" anchor="t"/>
          <a:lstStyle/>
          <a:p>
            <a:pPr indent="0" marL="0">
              <a:buNone/>
            </a:pPr>
            <a:r>
              <a:rPr lang="en-US" sz="1100" dirty="0">
                <a:solidFill>
                  <a:srgbClr val="E8E4F0"/>
                </a:solidFill>
                <a:latin typeface="Calibri" pitchFamily="34" charset="0"/>
                <a:ea typeface="Calibri" pitchFamily="34" charset="-122"/>
                <a:cs typeface="Calibri" pitchFamily="34" charset="-120"/>
              </a:rPr>
              <a:t>ICP ambiguity is the slow bleed. Trying to capture developers + enterprise + SMB in one undifferentiated funnel means converting none efficiently. Retell and Vapi are winning developer share by default — not because their product is better, but because they made activation obvious.</a:t>
            </a:r>
            <a:endParaRPr lang="en-US" sz="1100" dirty="0"/>
          </a:p>
        </p:txBody>
      </p:sp>
      <p:sp>
        <p:nvSpPr>
          <p:cNvPr id="8" name="Shape 6"/>
          <p:cNvSpPr/>
          <p:nvPr/>
        </p:nvSpPr>
        <p:spPr>
          <a:xfrm>
            <a:off x="4754880" y="1115568"/>
            <a:ext cx="4251960" cy="1810512"/>
          </a:xfrm>
          <a:prstGeom prst="rect">
            <a:avLst/>
          </a:prstGeom>
          <a:solidFill>
            <a:srgbClr val="0A2E1C"/>
          </a:solidFill>
          <a:ln w="19050">
            <a:solidFill>
              <a:srgbClr val="22C97A"/>
            </a:solidFill>
            <a:prstDash val="solid"/>
          </a:ln>
        </p:spPr>
      </p:sp>
      <p:sp>
        <p:nvSpPr>
          <p:cNvPr id="9" name="Text 7"/>
          <p:cNvSpPr/>
          <p:nvPr/>
        </p:nvSpPr>
        <p:spPr>
          <a:xfrm>
            <a:off x="4892040" y="1225296"/>
            <a:ext cx="4023360" cy="228600"/>
          </a:xfrm>
          <a:prstGeom prst="rect">
            <a:avLst/>
          </a:prstGeom>
          <a:noFill/>
          <a:ln/>
        </p:spPr>
        <p:txBody>
          <a:bodyPr wrap="square" lIns="0" tIns="0" rIns="0" bIns="0" rtlCol="0" anchor="ctr"/>
          <a:lstStyle/>
          <a:p>
            <a:pPr indent="0" marL="0">
              <a:buNone/>
            </a:pPr>
            <a:r>
              <a:rPr lang="en-US" sz="800" b="1" spc="150" kern="0" dirty="0">
                <a:solidFill>
                  <a:srgbClr val="22C97A"/>
                </a:solidFill>
                <a:latin typeface="Calibri" pitchFamily="34" charset="0"/>
                <a:ea typeface="Calibri" pitchFamily="34" charset="-122"/>
                <a:cs typeface="Calibri" pitchFamily="34" charset="-120"/>
              </a:rPr>
              <a:t>STRONGEST MOAT OPPORTUNITY</a:t>
            </a:r>
            <a:endParaRPr lang="en-US" sz="800" dirty="0"/>
          </a:p>
        </p:txBody>
      </p:sp>
      <p:sp>
        <p:nvSpPr>
          <p:cNvPr id="10" name="Text 8"/>
          <p:cNvSpPr/>
          <p:nvPr/>
        </p:nvSpPr>
        <p:spPr>
          <a:xfrm>
            <a:off x="4892040" y="1499616"/>
            <a:ext cx="4023360" cy="1335024"/>
          </a:xfrm>
          <a:prstGeom prst="rect">
            <a:avLst/>
          </a:prstGeom>
          <a:noFill/>
          <a:ln/>
        </p:spPr>
        <p:txBody>
          <a:bodyPr wrap="square" lIns="0" tIns="0" rIns="0" bIns="0" rtlCol="0" anchor="t"/>
          <a:lstStyle/>
          <a:p>
            <a:pPr indent="0" marL="0">
              <a:buNone/>
            </a:pPr>
            <a:r>
              <a:rPr lang="en-US" sz="1100" dirty="0">
                <a:solidFill>
                  <a:srgbClr val="E8E4F0"/>
                </a:solidFill>
                <a:latin typeface="Calibri" pitchFamily="34" charset="0"/>
                <a:ea typeface="Calibri" pitchFamily="34" charset="-122"/>
                <a:cs typeface="Calibri" pitchFamily="34" charset="-120"/>
              </a:rPr>
              <a:t>India-first positioning is the only uncontested wedge in this category. No global competitor is optimizing for Hinglish, Indian PSTN compliance, or D2C/BFSI call workflows. Own this loudly before a well-funded US player localises.</a:t>
            </a:r>
            <a:endParaRPr lang="en-US" sz="1100" dirty="0"/>
          </a:p>
        </p:txBody>
      </p:sp>
      <p:sp>
        <p:nvSpPr>
          <p:cNvPr id="11" name="Shape 9"/>
          <p:cNvSpPr/>
          <p:nvPr/>
        </p:nvSpPr>
        <p:spPr>
          <a:xfrm>
            <a:off x="365760" y="3035808"/>
            <a:ext cx="4251960" cy="1810512"/>
          </a:xfrm>
          <a:prstGeom prst="rect">
            <a:avLst/>
          </a:prstGeom>
          <a:solidFill>
            <a:srgbClr val="1E1040"/>
          </a:solidFill>
          <a:ln w="19050">
            <a:solidFill>
              <a:srgbClr val="6C3FFF"/>
            </a:solidFill>
            <a:prstDash val="solid"/>
          </a:ln>
        </p:spPr>
      </p:sp>
      <p:sp>
        <p:nvSpPr>
          <p:cNvPr id="12" name="Text 10"/>
          <p:cNvSpPr/>
          <p:nvPr/>
        </p:nvSpPr>
        <p:spPr>
          <a:xfrm>
            <a:off x="502920" y="3145536"/>
            <a:ext cx="4023360" cy="228600"/>
          </a:xfrm>
          <a:prstGeom prst="rect">
            <a:avLst/>
          </a:prstGeom>
          <a:noFill/>
          <a:ln/>
        </p:spPr>
        <p:txBody>
          <a:bodyPr wrap="square" lIns="0" tIns="0" rIns="0" bIns="0" rtlCol="0" anchor="ctr"/>
          <a:lstStyle/>
          <a:p>
            <a:pPr indent="0" marL="0">
              <a:buNone/>
            </a:pPr>
            <a:r>
              <a:rPr lang="en-US" sz="800" b="1" spc="150" kern="0" dirty="0">
                <a:solidFill>
                  <a:srgbClr val="6C3FFF"/>
                </a:solidFill>
                <a:latin typeface="Calibri" pitchFamily="34" charset="0"/>
                <a:ea typeface="Calibri" pitchFamily="34" charset="-122"/>
                <a:cs typeface="Calibri" pitchFamily="34" charset="-120"/>
              </a:rPr>
              <a:t>FASTEST GROWTH LEVER</a:t>
            </a:r>
            <a:endParaRPr lang="en-US" sz="800" dirty="0"/>
          </a:p>
        </p:txBody>
      </p:sp>
      <p:sp>
        <p:nvSpPr>
          <p:cNvPr id="13" name="Text 11"/>
          <p:cNvSpPr/>
          <p:nvPr/>
        </p:nvSpPr>
        <p:spPr>
          <a:xfrm>
            <a:off x="502920" y="3419856"/>
            <a:ext cx="4023360" cy="1335024"/>
          </a:xfrm>
          <a:prstGeom prst="rect">
            <a:avLst/>
          </a:prstGeom>
          <a:noFill/>
          <a:ln/>
        </p:spPr>
        <p:txBody>
          <a:bodyPr wrap="square" lIns="0" tIns="0" rIns="0" bIns="0" rtlCol="0" anchor="t"/>
          <a:lstStyle/>
          <a:p>
            <a:pPr indent="0" marL="0">
              <a:buNone/>
            </a:pPr>
            <a:r>
              <a:rPr lang="en-US" sz="1100" dirty="0">
                <a:solidFill>
                  <a:srgbClr val="E8E4F0"/>
                </a:solidFill>
                <a:latin typeface="Calibri" pitchFamily="34" charset="0"/>
                <a:ea typeface="Calibri" pitchFamily="34" charset="-122"/>
                <a:cs typeface="Calibri" pitchFamily="34" charset="-120"/>
              </a:rPr>
              <a:t>Audio proof in the hero + live call demo widget. The product literally sells itself if you let people hear it. This is a 3-day ship that could materially move homepage-to-demo conversion before any sales or marketing spend.</a:t>
            </a:r>
            <a:endParaRPr lang="en-US" sz="1100" dirty="0"/>
          </a:p>
        </p:txBody>
      </p:sp>
      <p:sp>
        <p:nvSpPr>
          <p:cNvPr id="14" name="Shape 12"/>
          <p:cNvSpPr/>
          <p:nvPr/>
        </p:nvSpPr>
        <p:spPr>
          <a:xfrm>
            <a:off x="4754880" y="3035808"/>
            <a:ext cx="4251960" cy="1810512"/>
          </a:xfrm>
          <a:prstGeom prst="rect">
            <a:avLst/>
          </a:prstGeom>
          <a:solidFill>
            <a:srgbClr val="2E1E00"/>
          </a:solidFill>
          <a:ln w="19050">
            <a:solidFill>
              <a:srgbClr val="F5A623"/>
            </a:solidFill>
            <a:prstDash val="solid"/>
          </a:ln>
        </p:spPr>
      </p:sp>
      <p:sp>
        <p:nvSpPr>
          <p:cNvPr id="15" name="Text 13"/>
          <p:cNvSpPr/>
          <p:nvPr/>
        </p:nvSpPr>
        <p:spPr>
          <a:xfrm>
            <a:off x="4892040" y="3145536"/>
            <a:ext cx="4023360" cy="228600"/>
          </a:xfrm>
          <a:prstGeom prst="rect">
            <a:avLst/>
          </a:prstGeom>
          <a:noFill/>
          <a:ln/>
        </p:spPr>
        <p:txBody>
          <a:bodyPr wrap="square" lIns="0" tIns="0" rIns="0" bIns="0" rtlCol="0" anchor="ctr"/>
          <a:lstStyle/>
          <a:p>
            <a:pPr indent="0" marL="0">
              <a:buNone/>
            </a:pPr>
            <a:r>
              <a:rPr lang="en-US" sz="800" b="1" spc="150" kern="0" dirty="0">
                <a:solidFill>
                  <a:srgbClr val="F5A623"/>
                </a:solidFill>
                <a:latin typeface="Calibri" pitchFamily="34" charset="0"/>
                <a:ea typeface="Calibri" pitchFamily="34" charset="-122"/>
                <a:cs typeface="Calibri" pitchFamily="34" charset="-120"/>
              </a:rPr>
              <a:t>HIGHEST-PRIORITY PRODUCT ISSUE</a:t>
            </a:r>
            <a:endParaRPr lang="en-US" sz="800" dirty="0"/>
          </a:p>
        </p:txBody>
      </p:sp>
      <p:sp>
        <p:nvSpPr>
          <p:cNvPr id="16" name="Text 14"/>
          <p:cNvSpPr/>
          <p:nvPr/>
        </p:nvSpPr>
        <p:spPr>
          <a:xfrm>
            <a:off x="4892040" y="3419856"/>
            <a:ext cx="4023360" cy="1335024"/>
          </a:xfrm>
          <a:prstGeom prst="rect">
            <a:avLst/>
          </a:prstGeom>
          <a:noFill/>
          <a:ln/>
        </p:spPr>
        <p:txBody>
          <a:bodyPr wrap="square" lIns="0" tIns="0" rIns="0" bIns="0" rtlCol="0" anchor="t"/>
          <a:lstStyle/>
          <a:p>
            <a:pPr indent="0" marL="0">
              <a:buNone/>
            </a:pPr>
            <a:r>
              <a:rPr lang="en-US" sz="1100" dirty="0">
                <a:solidFill>
                  <a:srgbClr val="E8E4F0"/>
                </a:solidFill>
                <a:latin typeface="Calibri" pitchFamily="34" charset="0"/>
                <a:ea typeface="Calibri" pitchFamily="34" charset="-122"/>
                <a:cs typeface="Calibri" pitchFamily="34" charset="-120"/>
              </a:rPr>
              <a:t>Split the CTA: dev sandbox vs enterprise demo. "Talk to an Expert" as the only path is killing developer activation. If the product is genuinely "Ship in Hours, Not Months" — prove it. Make developers ship in hours from the homepage itself.</a:t>
            </a:r>
            <a:endParaRPr lang="en-US" sz="1100" dirty="0"/>
          </a:p>
        </p:txBody>
      </p:sp>
      <p:sp>
        <p:nvSpPr>
          <p:cNvPr id="17" name="Shape 15"/>
          <p:cNvSpPr/>
          <p:nvPr/>
        </p:nvSpPr>
        <p:spPr>
          <a:xfrm>
            <a:off x="365760" y="4681728"/>
            <a:ext cx="8458200" cy="347472"/>
          </a:xfrm>
          <a:prstGeom prst="rect">
            <a:avLst/>
          </a:prstGeom>
          <a:solidFill>
            <a:srgbClr val="1E1040"/>
          </a:solidFill>
          <a:ln w="12700">
            <a:solidFill>
              <a:srgbClr val="6C3FFF"/>
            </a:solidFill>
            <a:prstDash val="solid"/>
          </a:ln>
        </p:spPr>
      </p:sp>
      <p:sp>
        <p:nvSpPr>
          <p:cNvPr id="18" name="Text 16"/>
          <p:cNvSpPr/>
          <p:nvPr/>
        </p:nvSpPr>
        <p:spPr>
          <a:xfrm>
            <a:off x="502920" y="4709160"/>
            <a:ext cx="8275320" cy="292608"/>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VocalLabs has built something technically credible. The product isn't the problem — the communication of the product is. Every gap is a messaging and activation gap, not a feature gap.</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VocalLabs.ai – Product Teardown</dc:title>
  <dc:subject>PptxGenJS Presentation</dc:subject>
  <dc:creator>Product Intern Candidate</dc:creator>
  <cp:lastModifiedBy>Product Intern Candidate</cp:lastModifiedBy>
  <cp:revision>1</cp:revision>
  <dcterms:created xsi:type="dcterms:W3CDTF">2026-05-31T05:19:05Z</dcterms:created>
  <dcterms:modified xsi:type="dcterms:W3CDTF">2026-05-31T05:19:05Z</dcterms:modified>
</cp:coreProperties>
</file>